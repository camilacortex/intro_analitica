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2e3eeb0d-9208-b60a-71ea-4c188f35f86e}">
          <p14:sldIdLst>
            <p14:sldId id="256"/>
            <p14:sldId id="257"/>
          </p14:sldIdLst>
        </p14:section>
        <p14:section name="Objetivos y reglas" id="{3376c36d-805b-d5e7-323b-2faa5df4f419}">
          <p14:sldIdLst>
            <p14:sldId id="258"/>
          </p14:sldIdLst>
        </p14:section>
        <p14:section name="Cronograma" id="{fde156ab-f628-7bec-7d29-d2d0b24fca12}">
          <p14:sldIdLst>
            <p14:sldId id="259"/>
          </p14:sldIdLst>
        </p14:section>
        <p14:section name="Entregables" id="{4d767fe2-4b74-d428-2ef5-3daf149650ac}">
          <p14:sldIdLst>
            <p14:sldId id="260"/>
          </p14:sldIdLst>
        </p14:section>
        <p14:section name="Rúbrica" id="{6f9381d3-180a-5e5b-cb60-f7d037b941da}">
          <p14:sldIdLst>
            <p14:sldId id="261"/>
          </p14:sldIdLst>
        </p14:section>
        <p14:section name="Presentación" id="{ca59fcb4-f418-a092-555a-1ad8259092e5}">
          <p14:sldIdLst>
            <p14:sldId id="262"/>
            <p14:sldId id="263"/>
          </p14:sldIdLst>
        </p14:section>
        <p14:section name="Checklist" id="{2985e3c9-82bd-74ba-adf2-d8a6eda44963}">
          <p14:sldIdLst>
            <p14:sldId id="264"/>
          </p14:sldIdLst>
        </p14:section>
        <p14:section name="Cierre" id="{7b9c17ec-101a-8926-5e8e-84e6ee54006e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3D3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3D3E"/>
                </a:solidFill>
                <a:latin typeface="+mn-lt"/>
              </a:rPr>
              <a:t>Peso de cada criterio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09F3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09F3E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Negocio</c:v>
                  </c:pt>
                  <c:pt idx="1">
                    <c:v>Datos y limpieza</c:v>
                  </c:pt>
                  <c:pt idx="2">
                    <c:v>EDA</c:v>
                  </c:pt>
                  <c:pt idx="3">
                    <c:v>Modelo y evaluación</c:v>
                  </c:pt>
                  <c:pt idx="4">
                    <c:v>Reproducibilidad</c:v>
                  </c:pt>
                  <c:pt idx="5">
                    <c:v>Trabajo en equipo</c:v>
                  </c:pt>
                  <c:pt idx="6">
                    <c:v>Comunicación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</c:v>
                </c:pt>
                <c:pt idx="1">
                  <c:v>15</c:v>
                </c:pt>
                <c:pt idx="2">
                  <c:v>15</c:v>
                </c:pt>
                <c:pt idx="3">
                  <c:v>20</c:v>
                </c:pt>
                <c:pt idx="4">
                  <c:v>10</c:v>
                </c:pt>
                <c:pt idx="5">
                  <c:v>5</c:v>
                </c:pt>
                <c:pt idx="6">
                  <c:v>20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1B2A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A5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1E8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A5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Universidad de Medellín · Especialización en Analítica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5C3"/>
                </a:solidFill>
              </a:rPr>
              <a:t>Proyecto 1 · Introducción a la Analítica · Módulo 06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5C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8F"/>
                </a:solidFill>
              </a:rPr>
              <a:t>Proyecto 1 · Introducción a la Analítica · Módulo 06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5C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chemeClr val="accent1"/>
                </a:solidFill>
              </a:rPr>
              <a:t>MÓDULO 06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Proyecto final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204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E1"/>
                </a:solidFill>
              </a:rPr>
              <a:t>Un proyecto completo, reproducible y bien comunicado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120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C5C3"/>
                </a:solidFill>
              </a:rPr>
              <a:t>María Camila Durango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052560" y="1463040"/>
            <a:ext cx="2560320" cy="25603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0574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la sesión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41732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1</a:t>
            </a:r>
            <a:endParaRPr lang="en-US" sz="154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9164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Objetivos y reglas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6888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Qué se espera</a:t>
            </a:r>
            <a:endParaRPr lang="en-US" sz="1700" dirty="0"/>
          </a:p>
        </p:txBody>
      </p:sp>
      <p:sp>
        <p:nvSpPr>
          <p:cNvPr id="8" name="Tarjeta"/>
          <p:cNvSpPr/>
          <p:nvPr/>
        </p:nvSpPr>
        <p:spPr>
          <a:xfrm>
            <a:off x="4236720" y="141732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451104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110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2</a:t>
            </a:r>
            <a:endParaRPr lang="en-US" sz="1540" dirty="0"/>
          </a:p>
        </p:txBody>
      </p:sp>
      <p:sp>
        <p:nvSpPr>
          <p:cNvPr id="11" name="Text 9"/>
          <p:cNvSpPr txBox="1"/>
          <p:nvPr/>
        </p:nvSpPr>
        <p:spPr>
          <a:xfrm>
            <a:off x="5288280" y="169164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Cronograma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11040" y="246888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Del 26 de octubre al 25 de noviembre</a:t>
            </a:r>
            <a:endParaRPr lang="en-US" sz="1700" dirty="0"/>
          </a:p>
        </p:txBody>
      </p:sp>
      <p:sp>
        <p:nvSpPr>
          <p:cNvPr id="13" name="Tarjeta"/>
          <p:cNvSpPr/>
          <p:nvPr/>
        </p:nvSpPr>
        <p:spPr>
          <a:xfrm>
            <a:off x="7924800" y="141732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819912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991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3</a:t>
            </a:r>
            <a:endParaRPr lang="en-US" sz="1540" dirty="0"/>
          </a:p>
        </p:txBody>
      </p:sp>
      <p:sp>
        <p:nvSpPr>
          <p:cNvPr id="16" name="Text 14"/>
          <p:cNvSpPr txBox="1"/>
          <p:nvPr/>
        </p:nvSpPr>
        <p:spPr>
          <a:xfrm>
            <a:off x="8976360" y="169164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Entregables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199120" y="246888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Repositorio y presentación</a:t>
            </a:r>
            <a:endParaRPr lang="en-US" sz="1700" dirty="0"/>
          </a:p>
        </p:txBody>
      </p:sp>
      <p:sp>
        <p:nvSpPr>
          <p:cNvPr id="18" name="Tarjeta"/>
          <p:cNvSpPr/>
          <p:nvPr/>
        </p:nvSpPr>
        <p:spPr>
          <a:xfrm>
            <a:off x="548640" y="384048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4</a:t>
            </a:r>
            <a:endParaRPr lang="en-US" sz="154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411480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Rúbrica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89204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Cómo se califica</a:t>
            </a:r>
            <a:endParaRPr lang="en-US" sz="1700" dirty="0"/>
          </a:p>
        </p:txBody>
      </p:sp>
      <p:sp>
        <p:nvSpPr>
          <p:cNvPr id="23" name="Tarjeta"/>
          <p:cNvSpPr/>
          <p:nvPr/>
        </p:nvSpPr>
        <p:spPr>
          <a:xfrm>
            <a:off x="4236720" y="384048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Shape 22"/>
          <p:cNvSpPr/>
          <p:nvPr/>
        </p:nvSpPr>
        <p:spPr>
          <a:xfrm>
            <a:off x="4511040" y="4114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1104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5</a:t>
            </a:r>
            <a:endParaRPr lang="en-US" sz="1540" dirty="0"/>
          </a:p>
        </p:txBody>
      </p:sp>
      <p:sp>
        <p:nvSpPr>
          <p:cNvPr id="26" name="Text 24"/>
          <p:cNvSpPr txBox="1"/>
          <p:nvPr/>
        </p:nvSpPr>
        <p:spPr>
          <a:xfrm>
            <a:off x="5288280" y="411480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Presentación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511040" y="489204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Estructura y consejos</a:t>
            </a:r>
            <a:endParaRPr lang="en-US" sz="1700" dirty="0"/>
          </a:p>
        </p:txBody>
      </p:sp>
      <p:sp>
        <p:nvSpPr>
          <p:cNvPr id="28" name="Tarjeta"/>
          <p:cNvSpPr/>
          <p:nvPr/>
        </p:nvSpPr>
        <p:spPr>
          <a:xfrm>
            <a:off x="7924800" y="384048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9" name="Shape 27"/>
          <p:cNvSpPr/>
          <p:nvPr/>
        </p:nvSpPr>
        <p:spPr>
          <a:xfrm>
            <a:off x="8199120" y="4114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19912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6</a:t>
            </a:r>
            <a:endParaRPr lang="en-US" sz="1540" dirty="0"/>
          </a:p>
        </p:txBody>
      </p:sp>
      <p:sp>
        <p:nvSpPr>
          <p:cNvPr id="31" name="Text 29"/>
          <p:cNvSpPr txBox="1"/>
          <p:nvPr/>
        </p:nvSpPr>
        <p:spPr>
          <a:xfrm>
            <a:off x="8976360" y="411480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Checklist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199120" y="489204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Antes de entregar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del proyecto</a:t>
            </a:r>
            <a:endParaRPr lang="en-US" sz="3200" dirty="0"/>
          </a:p>
        </p:txBody>
      </p:sp>
      <p:sp>
        <p:nvSpPr>
          <p:cNvPr id="3" name="Circulo"/>
          <p:cNvSpPr/>
          <p:nvPr/>
        </p:nvSpPr>
        <p:spPr>
          <a:xfrm>
            <a:off x="548640" y="14630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417320"/>
            <a:ext cx="5715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Aplicar lo aprendido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874520"/>
            <a:ext cx="5715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 proyecto de ciencia de datos con lo visto en la especialización</a:t>
            </a:r>
            <a:endParaRPr lang="en-US" sz="1600" dirty="0"/>
          </a:p>
        </p:txBody>
      </p:sp>
      <p:sp>
        <p:nvSpPr>
          <p:cNvPr id="7" name="Circulo"/>
          <p:cNvSpPr/>
          <p:nvPr/>
        </p:nvSpPr>
        <p:spPr>
          <a:xfrm>
            <a:off x="548640" y="2761488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44368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2715768"/>
            <a:ext cx="5715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Un problema real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1508760" y="3172968"/>
            <a:ext cx="5715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 una decisión de negocio detrás</a:t>
            </a:r>
            <a:endParaRPr lang="en-US" sz="1600" dirty="0"/>
          </a:p>
        </p:txBody>
      </p:sp>
      <p:sp>
        <p:nvSpPr>
          <p:cNvPr id="11" name="Circulo"/>
          <p:cNvSpPr/>
          <p:nvPr/>
        </p:nvSpPr>
        <p:spPr>
          <a:xfrm>
            <a:off x="548640" y="4059936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242816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8760" y="4014216"/>
            <a:ext cx="5715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Todas las fases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1508760" y="4471416"/>
            <a:ext cx="5715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CRISP-DM de punta a punta</a:t>
            </a:r>
            <a:endParaRPr lang="en-US" sz="1600" dirty="0"/>
          </a:p>
        </p:txBody>
      </p:sp>
      <p:sp>
        <p:nvSpPr>
          <p:cNvPr id="15" name="Circulo"/>
          <p:cNvSpPr/>
          <p:nvPr/>
        </p:nvSpPr>
        <p:spPr>
          <a:xfrm>
            <a:off x="548640" y="5358384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541264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08760" y="5312664"/>
            <a:ext cx="5715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Las dificultades prácticas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1508760" y="5769864"/>
            <a:ext cx="5715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Datos sucios, iteración y trabajo en equipo</a:t>
            </a:r>
            <a:endParaRPr lang="en-US" sz="1600" dirty="0"/>
          </a:p>
        </p:txBody>
      </p:sp>
      <p:sp>
        <p:nvSpPr>
          <p:cNvPr id="19" name="Tarjeta"/>
          <p:cNvSpPr/>
          <p:nvPr/>
        </p:nvSpPr>
        <p:spPr>
          <a:xfrm>
            <a:off x="7589520" y="1417320"/>
            <a:ext cx="4023360" cy="466344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7863840" y="1691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Reglas</a:t>
            </a:r>
            <a:endParaRPr lang="en-US" sz="2200" dirty="0"/>
          </a:p>
        </p:txBody>
      </p:sp>
      <p:sp>
        <p:nvSpPr>
          <p:cNvPr id="21" name="Text 15"/>
          <p:cNvSpPr txBox="1"/>
          <p:nvPr/>
        </p:nvSpPr>
        <p:spPr>
          <a:xfrm>
            <a:off x="7863840" y="2377440"/>
            <a:ext cx="3474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Equipos de 3. Un repositorio en GitHub con commits de todos y la profesora como colaboradora. Dataset público; si pesa más de 50 MB, enlace de descarga.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840480"/>
                <a:gridCol w="44805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Fecha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Clase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Secciones del notebook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2F"/>
                          </a:solidFill>
                        </a:rPr>
                        <a:t>26 de octubre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02 Del problema a los datos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0, 1 y 2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2F"/>
                          </a:solidFill>
                        </a:rPr>
                        <a:t>27 de octubre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03 Preparación y EDA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3 y 4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2F"/>
                          </a:solidFill>
                        </a:rPr>
                        <a:t>28 de octubre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04 Modelado y métricas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5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2F"/>
                          </a:solidFill>
                        </a:rPr>
                        <a:t>29 oct al 10 nov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Trabajo autónomo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Mejorar 1 a 5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2F"/>
                          </a:solidFill>
                        </a:rPr>
                        <a:t>4 de noviembre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Avance intermedio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El notebook corre completo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2F"/>
                          </a:solidFill>
                        </a:rPr>
                        <a:t>11 de noviembre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05 Del modelo al producto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6 y esquema de la presentación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2F"/>
                          </a:solidFill>
                        </a:rPr>
                        <a:t>25 de noviembre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Sustentación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Entrega final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Entregables finales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417320"/>
            <a:ext cx="3505200" cy="4663440"/>
          </a:xfrm>
          <a:prstGeom prst="roundRect">
            <a:avLst>
              <a:gd name="adj" fmla="val 3130"/>
            </a:avLst>
          </a:prstGeom>
          <a:solidFill>
            <a:schemeClr val="bg2"/>
          </a:solidFill>
          <a:ln/>
        </p:spPr>
      </p:sp>
      <p:sp>
        <p:nvSpPr>
          <p:cNvPr id="4" name="Circulo"/>
          <p:cNvSpPr/>
          <p:nvPr/>
        </p:nvSpPr>
        <p:spPr>
          <a:xfrm>
            <a:off x="822960" y="16916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86309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1460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Repositorio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54680"/>
            <a:ext cx="2956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README: problema, datos, cómo ejecutar, resultados y límites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pyproject.toml y uv.lock</a:t>
            </a:r>
            <a:endParaRPr lang="en-US" sz="1700" dirty="0"/>
          </a:p>
        </p:txBody>
      </p:sp>
      <p:sp>
        <p:nvSpPr>
          <p:cNvPr id="8" name="Tarjeta"/>
          <p:cNvSpPr/>
          <p:nvPr/>
        </p:nvSpPr>
        <p:spPr>
          <a:xfrm>
            <a:off x="4328160" y="1417320"/>
            <a:ext cx="3505200" cy="4663440"/>
          </a:xfrm>
          <a:prstGeom prst="roundRect">
            <a:avLst>
              <a:gd name="adj" fmla="val 3130"/>
            </a:avLst>
          </a:prstGeom>
          <a:solidFill>
            <a:schemeClr val="bg2"/>
          </a:solidFill>
          <a:ln/>
        </p:spPr>
      </p:sp>
      <p:sp>
        <p:nvSpPr>
          <p:cNvPr id="9" name="Circulo"/>
          <p:cNvSpPr/>
          <p:nvPr/>
        </p:nvSpPr>
        <p:spPr>
          <a:xfrm>
            <a:off x="4602480" y="16916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930" y="186309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02480" y="251460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Notebook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02480" y="3154680"/>
            <a:ext cx="2956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proyecto_equipo.ipynb con las 6 secciones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Corre de principio a fin</a:t>
            </a:r>
            <a:endParaRPr lang="en-US" sz="1700" dirty="0"/>
          </a:p>
        </p:txBody>
      </p:sp>
      <p:sp>
        <p:nvSpPr>
          <p:cNvPr id="13" name="Tarjeta"/>
          <p:cNvSpPr/>
          <p:nvPr/>
        </p:nvSpPr>
        <p:spPr>
          <a:xfrm>
            <a:off x="8107680" y="1417320"/>
            <a:ext cx="3505200" cy="4663440"/>
          </a:xfrm>
          <a:prstGeom prst="roundRect">
            <a:avLst>
              <a:gd name="adj" fmla="val 3130"/>
            </a:avLst>
          </a:prstGeom>
          <a:solidFill>
            <a:schemeClr val="bg2"/>
          </a:solidFill>
          <a:ln/>
        </p:spPr>
      </p:sp>
      <p:sp>
        <p:nvSpPr>
          <p:cNvPr id="14" name="Circulo"/>
          <p:cNvSpPr/>
          <p:nvPr/>
        </p:nvSpPr>
        <p:spPr>
          <a:xfrm>
            <a:off x="8382000" y="16916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3450" y="186309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82000" y="251460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Presentación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382000" y="3154680"/>
            <a:ext cx="2956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10-12 min + 5 de preguntas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Para un comité directivo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Los tres presentan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Rúbrica: 100 puntos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rjeta"/>
          <p:cNvSpPr/>
          <p:nvPr/>
        </p:nvSpPr>
        <p:spPr>
          <a:xfrm>
            <a:off x="7772400" y="1371600"/>
            <a:ext cx="3840480" cy="47548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046720" y="1554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Bonificaciones y penalizaciones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2103120"/>
            <a:ext cx="3291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Bonificación: API o dashboard publicado (+3), un modelo adicional o validación cruzada (+2), análisis de sesgos (+1)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−10: .venv, contraseñas o datos de más de 50 MB en el repositorio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−5: el notebook no corre completo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 la presentación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463040"/>
                <a:gridCol w="53949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Bloque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Tiempo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Sale de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2F"/>
                          </a:solidFill>
                        </a:rPr>
                        <a:t>El problema y el criterio de éxito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1:45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Sección 1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2F"/>
                          </a:solidFill>
                        </a:rPr>
                        <a:t>Los datos y la limpieza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1:00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Secciones 2 y 3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2F"/>
                          </a:solidFill>
                        </a:rPr>
                        <a:t>3 hallazgos del EDA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2:00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Sección 4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2F"/>
                          </a:solidFill>
                        </a:rPr>
                        <a:t>El modelo frente al baseline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1:30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Sección 5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2F"/>
                          </a:solidFill>
                        </a:rPr>
                        <a:t>Demostración (opcional)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2:00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Módulo 05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2F"/>
                          </a:solidFill>
                        </a:rPr>
                        <a:t>Límites y recomendación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2:00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Sección 6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Consejos para presentar</a:t>
            </a:r>
            <a:endParaRPr lang="en-US" sz="3200" dirty="0"/>
          </a:p>
        </p:txBody>
      </p:sp>
      <p:sp>
        <p:nvSpPr>
          <p:cNvPr id="3" name="Circulo"/>
          <p:cNvSpPr/>
          <p:nvPr/>
        </p:nvSpPr>
        <p:spPr>
          <a:xfrm>
            <a:off x="548640" y="14630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417320"/>
            <a:ext cx="10104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El título es la conclusión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874520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"El barrio suma hasta un 46 % al precio", no "Análisis por barrio"</a:t>
            </a:r>
            <a:endParaRPr lang="en-US" sz="1600" dirty="0"/>
          </a:p>
        </p:txBody>
      </p:sp>
      <p:sp>
        <p:nvSpPr>
          <p:cNvPr id="7" name="Circulo"/>
          <p:cNvSpPr/>
          <p:nvPr/>
        </p:nvSpPr>
        <p:spPr>
          <a:xfrm>
            <a:off x="548640" y="2761488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44368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2715768"/>
            <a:ext cx="10104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El idioma del negocio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1508760" y="3172968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"Nos equivocamos un 10 % en promedio", no "MAPE de 0.0968"</a:t>
            </a:r>
            <a:endParaRPr lang="en-US" sz="1600" dirty="0"/>
          </a:p>
        </p:txBody>
      </p:sp>
      <p:sp>
        <p:nvSpPr>
          <p:cNvPr id="11" name="Circulo"/>
          <p:cNvSpPr/>
          <p:nvPr/>
        </p:nvSpPr>
        <p:spPr>
          <a:xfrm>
            <a:off x="548640" y="4059936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242816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8760" y="4014216"/>
            <a:ext cx="10104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Demostración con plan B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1508760" y="4471416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 muestran una API o un dashboard, tengan capturas por si falla</a:t>
            </a:r>
            <a:endParaRPr lang="en-US" sz="1600" dirty="0"/>
          </a:p>
        </p:txBody>
      </p:sp>
      <p:sp>
        <p:nvSpPr>
          <p:cNvPr id="15" name="Circulo"/>
          <p:cNvSpPr/>
          <p:nvPr/>
        </p:nvSpPr>
        <p:spPr>
          <a:xfrm>
            <a:off x="548640" y="5358384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541264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08760" y="5312664"/>
            <a:ext cx="10104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Cronómetro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1508760" y="5769864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Pasarse del tiempo es la falla más común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entregar</a:t>
            </a:r>
            <a:endParaRPr lang="en-US" sz="3200" dirty="0"/>
          </a:p>
        </p:txBody>
      </p:sp>
      <p:sp>
        <p:nvSpPr>
          <p:cNvPr id="3" name="Circulo"/>
          <p:cNvSpPr/>
          <p:nvPr/>
        </p:nvSpPr>
        <p:spPr>
          <a:xfrm>
            <a:off x="548640" y="14630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417320"/>
            <a:ext cx="10104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Restart Kernel and Run All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874520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El notebook corre de principio a fin, sin errores</a:t>
            </a:r>
            <a:endParaRPr lang="en-US" sz="1600" dirty="0"/>
          </a:p>
        </p:txBody>
      </p:sp>
      <p:sp>
        <p:nvSpPr>
          <p:cNvPr id="7" name="Circulo"/>
          <p:cNvSpPr/>
          <p:nvPr/>
        </p:nvSpPr>
        <p:spPr>
          <a:xfrm>
            <a:off x="548640" y="2761488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44368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2715768"/>
            <a:ext cx="10104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Prueba del clon limpio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1508760" y="3172968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git clone en una carpeta nueva, uv sync y Run All siguiendo solo el README</a:t>
            </a:r>
            <a:endParaRPr lang="en-US" sz="1600" dirty="0"/>
          </a:p>
        </p:txBody>
      </p:sp>
      <p:sp>
        <p:nvSpPr>
          <p:cNvPr id="11" name="Circulo"/>
          <p:cNvSpPr/>
          <p:nvPr/>
        </p:nvSpPr>
        <p:spPr>
          <a:xfrm>
            <a:off x="548640" y="4059936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242816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8760" y="4014216"/>
            <a:ext cx="10104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Sin COMPLETAR pendientes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1508760" y="4471416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Todas las tablas del notebook están llenas</a:t>
            </a:r>
            <a:endParaRPr lang="en-US" sz="1600" dirty="0"/>
          </a:p>
        </p:txBody>
      </p:sp>
      <p:sp>
        <p:nvSpPr>
          <p:cNvPr id="15" name="Circulo"/>
          <p:cNvSpPr/>
          <p:nvPr/>
        </p:nvSpPr>
        <p:spPr>
          <a:xfrm>
            <a:off x="548640" y="5358384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541264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08760" y="5312664"/>
            <a:ext cx="10104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Commits de los tres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1508760" y="5769864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 mensajes en formato tipo: descripción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llevar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81912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150876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Primero el problema, después el algoritmo</a:t>
            </a:r>
            <a:endParaRPr lang="en-US" sz="1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50592"/>
            <a:ext cx="411480" cy="4114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325880" y="237744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CRISP-DM es un ciclo: iterar es normal</a:t>
            </a:r>
            <a:endParaRPr lang="en-US" sz="1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19272"/>
            <a:ext cx="411480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325880" y="324612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Documenten mientras avanzan</a:t>
            </a:r>
            <a:endParaRPr lang="en-US" sz="19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87952"/>
            <a:ext cx="411480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325880" y="411480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Comunicar los límites da credibilidad</a:t>
            </a:r>
            <a:endParaRPr lang="en-US" sz="1900" dirty="0"/>
          </a:p>
        </p:txBody>
      </p:sp>
      <p:sp>
        <p:nvSpPr>
          <p:cNvPr id="11" name="Tarjeta"/>
          <p:cNvSpPr/>
          <p:nvPr/>
        </p:nvSpPr>
        <p:spPr>
          <a:xfrm>
            <a:off x="7955280" y="1508760"/>
            <a:ext cx="3566160" cy="3566160"/>
          </a:xfrm>
          <a:prstGeom prst="roundRect">
            <a:avLst>
              <a:gd name="adj" fmla="val 3077"/>
            </a:avLst>
          </a:prstGeom>
          <a:solidFill>
            <a:schemeClr val="accent2"/>
          </a:solidFill>
          <a:ln/>
        </p:spPr>
      </p:sp>
      <p:sp>
        <p:nvSpPr>
          <p:cNvPr id="12" name="Text 6"/>
          <p:cNvSpPr txBox="1"/>
          <p:nvPr/>
        </p:nvSpPr>
        <p:spPr>
          <a:xfrm>
            <a:off x="8229600" y="173736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de noviembre · Sustentación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Revisen checklist_entrega.md y ensayen con cronómetro.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5C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alitica UdeM">
  <a:themeElements>
    <a:clrScheme name="Analitica UdeM">
      <a:dk1>
        <a:srgbClr val="1B2A2F"/>
      </a:dk1>
      <a:lt1>
        <a:srgbClr val="FFFFFF"/>
      </a:lt1>
      <a:dk2>
        <a:srgbClr val="0F3D3E"/>
      </a:dk2>
      <a:lt2>
        <a:srgbClr val="EEF4F3"/>
      </a:lt2>
      <a:accent1>
        <a:srgbClr val="E09F3E"/>
      </a:accent1>
      <a:accent2>
        <a:srgbClr val="2A9D8F"/>
      </a:accent2>
      <a:accent3>
        <a:srgbClr val="9E2A2B"/>
      </a:accent3>
      <a:accent4>
        <a:srgbClr val="5B7F95"/>
      </a:accent4>
      <a:accent5>
        <a:srgbClr val="84A98C"/>
      </a:accent5>
      <a:accent6>
        <a:srgbClr val="C8553D"/>
      </a:accent6>
      <a:hlink>
        <a:srgbClr val="2A9D8F"/>
      </a:hlink>
      <a:folHlink>
        <a:srgbClr val="5B7F95"/>
      </a:folHlink>
    </a:clrScheme>
    <a:fontScheme name="Analitica Ude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Universidad de Medellín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06: Proyecto final</dc:title>
  <dc:subject>PptxGenJS Presentation</dc:subject>
  <dc:creator>María Camila Durango</dc:creator>
  <cp:lastModifiedBy>María Camila Durango</cp:lastModifiedBy>
  <cp:revision>1</cp:revision>
  <dcterms:created xsi:type="dcterms:W3CDTF">2026-10-24T23:15:54Z</dcterms:created>
  <dcterms:modified xsi:type="dcterms:W3CDTF">2026-10-24T23:15:54Z</dcterms:modified>
</cp:coreProperties>
</file>