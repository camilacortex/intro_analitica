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1613915e-baa4-726c-2c88-20530d3615d5}">
          <p14:sldIdLst>
            <p14:sldId id="256"/>
            <p14:sldId id="257"/>
          </p14:sldIdLst>
        </p14:section>
        <p14:section name="Qué es un EDA" id="{f68670e1-df40-bfaf-2222-8e9fd05b30c8}">
          <p14:sldIdLst>
            <p14:sldId id="258"/>
          </p14:sldIdLst>
        </p14:section>
        <p14:section name="El recorrido" id="{d37d7a57-4a42-1b49-86e6-447d39a225f3}">
          <p14:sldIdLst>
            <p14:sldId id="259"/>
            <p14:sldId id="261"/>
          </p14:sldIdLst>
        </p14:section>
        <p14:section name="¿Qué gráfico uso?" id="{430d9152-77ce-1509-02dc-fd20ce908b27}">
          <p14:sldIdLst>
            <p14:sldId id="260"/>
          </p14:sldIdLst>
        </p14:section>
        <p14:section name="El recorrido" id="{e98e56b3-fedb-45fb-dd12-73ca127b5cb2}">
          <p14:sldIdLst/>
        </p14:section>
        <p14:section name="Outliers" id="{40893f7e-03d5-f657-0519-9770a4c42188}">
          <p14:sldIdLst>
            <p14:sldId id="262"/>
          </p14:sldIdLst>
        </p14:section>
        <p14:section name="Hipótesis" id="{772079bb-3e5d-76c6-f5f1-045741639f52}">
          <p14:sldIdLst>
            <p14:sldId id="263"/>
            <p14:sldId id="264"/>
          </p14:sldIdLst>
        </p14:section>
        <p14:section name="Trabajo en salas" id="{ecf0183d-738e-978b-8b4b-db8387add703}">
          <p14:sldIdLst>
            <p14:sldId id="265"/>
          </p14:sldIdLst>
        </p14:section>
        <p14:section name="Cierre" id="{96030f49-8a50-d6b2-2f97-43484e24d3b8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3D3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3D3E"/>
                </a:solidFill>
                <a:latin typeface="+mn-lt"/>
              </a:rPr>
              <a:t>Correlación de Pearson con SalePrice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rgbClr val="E09F3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9F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9F3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OverallQual</c:v>
                  </c:pt>
                  <c:pt idx="1">
                    <c:v>TotalSF</c:v>
                  </c:pt>
                  <c:pt idx="2">
                    <c:v>GrLivArea</c:v>
                  </c:pt>
                  <c:pt idx="3">
                    <c:v>GarageCars</c:v>
                  </c:pt>
                  <c:pt idx="4">
                    <c:v>TotalBath</c:v>
                  </c:pt>
                  <c:pt idx="5">
                    <c:v>GarageArea</c:v>
                  </c:pt>
                  <c:pt idx="6">
                    <c:v>TotalBsmtSF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0.79</c:v>
                </c:pt>
                <c:pt idx="1">
                  <c:v>0.78</c:v>
                </c:pt>
                <c:pt idx="2">
                  <c:v>0.71</c:v>
                </c:pt>
                <c:pt idx="3">
                  <c:v>0.64</c:v>
                </c:pt>
                <c:pt idx="4">
                  <c:v>0.63</c:v>
                </c:pt>
                <c:pt idx="5">
                  <c:v>0.62</c:v>
                </c:pt>
                <c:pt idx="6">
                  <c:v>0.61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1E8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5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Universidad de Medellín · Especialización en Analítica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5C3"/>
                </a:solidFill>
              </a:rPr>
              <a:t>Proyecto 1 · Introducción a la Analítica · Módulo 05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8F"/>
                </a:solidFill>
              </a:rPr>
              <a:t>Proyecto 1 · Introducción a la Analítica · Módulo 05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chemeClr val="accent1"/>
                </a:solidFill>
              </a:rPr>
              <a:t>MÓDULO 05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exploratorio de datos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204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E1"/>
                </a:solidFill>
              </a:rPr>
              <a:t>Hacerle preguntas a los datos y dejar que las respuestas guíen el modelo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C5C3"/>
                </a:solidFill>
              </a:rPr>
              <a:t>María Camila Durango · basado en el material del prof. Oscar N. Gómez Giraldo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052560" y="1463040"/>
            <a:ext cx="2560320" cy="25603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0574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1</a:t>
            </a:r>
            <a:endParaRPr lang="en-US" sz="154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Qué es un EDA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Y qué no es</a:t>
            </a:r>
            <a:endParaRPr lang="en-US" sz="1700" dirty="0"/>
          </a:p>
        </p:txBody>
      </p:sp>
      <p:sp>
        <p:nvSpPr>
          <p:cNvPr id="8" name="Tarjeta"/>
          <p:cNvSpPr/>
          <p:nvPr/>
        </p:nvSpPr>
        <p:spPr>
          <a:xfrm>
            <a:off x="423672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51104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110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2</a:t>
            </a:r>
            <a:endParaRPr lang="en-US" sz="1540" dirty="0"/>
          </a:p>
        </p:txBody>
      </p:sp>
      <p:sp>
        <p:nvSpPr>
          <p:cNvPr id="11" name="Text 9"/>
          <p:cNvSpPr txBox="1"/>
          <p:nvPr/>
        </p:nvSpPr>
        <p:spPr>
          <a:xfrm>
            <a:off x="528828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El recorrido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1104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Target → univariado → bivariado</a:t>
            </a:r>
            <a:endParaRPr lang="en-US" sz="1700" dirty="0"/>
          </a:p>
        </p:txBody>
      </p:sp>
      <p:sp>
        <p:nvSpPr>
          <p:cNvPr id="13" name="Tarjeta"/>
          <p:cNvSpPr/>
          <p:nvPr/>
        </p:nvSpPr>
        <p:spPr>
          <a:xfrm>
            <a:off x="792480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819912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991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3</a:t>
            </a:r>
            <a:endParaRPr lang="en-US" sz="1540" dirty="0"/>
          </a:p>
        </p:txBody>
      </p:sp>
      <p:sp>
        <p:nvSpPr>
          <p:cNvPr id="16" name="Text 14"/>
          <p:cNvSpPr txBox="1"/>
          <p:nvPr/>
        </p:nvSpPr>
        <p:spPr>
          <a:xfrm>
            <a:off x="897636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¿Qué gráfico uso?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9912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Según el tipo de variable</a:t>
            </a:r>
            <a:endParaRPr lang="en-US" sz="1700" dirty="0"/>
          </a:p>
        </p:txBody>
      </p:sp>
      <p:sp>
        <p:nvSpPr>
          <p:cNvPr id="18" name="Tarjeta"/>
          <p:cNvSpPr/>
          <p:nvPr/>
        </p:nvSpPr>
        <p:spPr>
          <a:xfrm>
            <a:off x="54864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4</a:t>
            </a:r>
            <a:endParaRPr lang="en-US" sz="154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Outliers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Detectar ≠ eliminar</a:t>
            </a:r>
            <a:endParaRPr lang="en-US" sz="1700" dirty="0"/>
          </a:p>
        </p:txBody>
      </p:sp>
      <p:sp>
        <p:nvSpPr>
          <p:cNvPr id="23" name="Tarjeta"/>
          <p:cNvSpPr/>
          <p:nvPr/>
        </p:nvSpPr>
        <p:spPr>
          <a:xfrm>
            <a:off x="423672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451104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1104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5</a:t>
            </a:r>
            <a:endParaRPr lang="en-US" sz="1540" dirty="0"/>
          </a:p>
        </p:txBody>
      </p:sp>
      <p:sp>
        <p:nvSpPr>
          <p:cNvPr id="26" name="Text 24"/>
          <p:cNvSpPr txBox="1"/>
          <p:nvPr/>
        </p:nvSpPr>
        <p:spPr>
          <a:xfrm>
            <a:off x="528828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Hipótesis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1104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Validar con evidencia</a:t>
            </a:r>
            <a:endParaRPr lang="en-US" sz="1700" dirty="0"/>
          </a:p>
        </p:txBody>
      </p:sp>
      <p:sp>
        <p:nvSpPr>
          <p:cNvPr id="28" name="Tarjeta"/>
          <p:cNvSpPr/>
          <p:nvPr/>
        </p:nvSpPr>
        <p:spPr>
          <a:xfrm>
            <a:off x="792480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Shape 27"/>
          <p:cNvSpPr/>
          <p:nvPr/>
        </p:nvSpPr>
        <p:spPr>
          <a:xfrm>
            <a:off x="819912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9912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6</a:t>
            </a:r>
            <a:endParaRPr lang="en-US" sz="1540" dirty="0"/>
          </a:p>
        </p:txBody>
      </p:sp>
      <p:sp>
        <p:nvSpPr>
          <p:cNvPr id="31" name="Text 29"/>
          <p:cNvSpPr txBox="1"/>
          <p:nvPr/>
        </p:nvSpPr>
        <p:spPr>
          <a:xfrm>
            <a:off x="897636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Salas de Zoom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19912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El EDA del equipo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 (y qué no es) un EDA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417320"/>
            <a:ext cx="539496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394960" cy="777240"/>
          </a:xfrm>
          <a:prstGeom prst="roundRect">
            <a:avLst>
              <a:gd name="adj" fmla="val 14118"/>
            </a:avLst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No 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50 gráficas sin conclusión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Mirar "a ver qué sale"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Algo que se hace una sola vez</a:t>
            </a:r>
            <a:endParaRPr lang="en-US" sz="1800" dirty="0"/>
          </a:p>
        </p:txBody>
      </p:sp>
      <p:sp>
        <p:nvSpPr>
          <p:cNvPr id="7" name="Tarjeta"/>
          <p:cNvSpPr/>
          <p:nvPr/>
        </p:nvSpPr>
        <p:spPr>
          <a:xfrm>
            <a:off x="6217920" y="1417320"/>
            <a:ext cx="539496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1417320"/>
            <a:ext cx="539496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4173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Sí es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46888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5-7 hallazgos con evidencia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Partir de preguntas e hipótesis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Iterativo: cada hallazgo abre nuevas preguntas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recorrido, paso a paso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470660" y="2286000"/>
            <a:ext cx="9220200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4" name="Circulo"/>
          <p:cNvSpPr/>
          <p:nvPr/>
        </p:nvSpPr>
        <p:spPr>
          <a:xfrm>
            <a:off x="101346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2060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926080"/>
            <a:ext cx="1697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Target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611880"/>
            <a:ext cx="16245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¿Qué predigo y cómo se distribuye?</a:t>
            </a:r>
            <a:endParaRPr lang="en-US" sz="1400" dirty="0"/>
          </a:p>
        </p:txBody>
      </p:sp>
      <p:sp>
        <p:nvSpPr>
          <p:cNvPr id="8" name="Circulo"/>
          <p:cNvSpPr/>
          <p:nvPr/>
        </p:nvSpPr>
        <p:spPr>
          <a:xfrm>
            <a:off x="285750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0" y="20574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465832" y="2926080"/>
            <a:ext cx="1697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Univariado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2502408" y="3611880"/>
            <a:ext cx="16245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variable sola</a:t>
            </a:r>
            <a:endParaRPr lang="en-US" sz="1400" dirty="0"/>
          </a:p>
        </p:txBody>
      </p:sp>
      <p:sp>
        <p:nvSpPr>
          <p:cNvPr id="12" name="Circulo"/>
          <p:cNvSpPr/>
          <p:nvPr/>
        </p:nvSpPr>
        <p:spPr>
          <a:xfrm>
            <a:off x="470154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140" y="20574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309872" y="2926080"/>
            <a:ext cx="1697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Bivariado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4346448" y="3611880"/>
            <a:ext cx="16245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variable vs. el target</a:t>
            </a:r>
            <a:endParaRPr lang="en-US" sz="1400" dirty="0"/>
          </a:p>
        </p:txBody>
      </p:sp>
      <p:sp>
        <p:nvSpPr>
          <p:cNvPr id="16" name="Circulo"/>
          <p:cNvSpPr/>
          <p:nvPr/>
        </p:nvSpPr>
        <p:spPr>
          <a:xfrm>
            <a:off x="654558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4180" y="20574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153912" y="2926080"/>
            <a:ext cx="1697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Outliers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6190488" y="3611880"/>
            <a:ext cx="16245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¿Error o realidad?</a:t>
            </a:r>
            <a:endParaRPr lang="en-US" sz="1400" dirty="0"/>
          </a:p>
        </p:txBody>
      </p:sp>
      <p:sp>
        <p:nvSpPr>
          <p:cNvPr id="20" name="Circulo"/>
          <p:cNvSpPr/>
          <p:nvPr/>
        </p:nvSpPr>
        <p:spPr>
          <a:xfrm>
            <a:off x="838962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8220" y="205740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997952" y="2926080"/>
            <a:ext cx="1697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Hipótesis</a:t>
            </a:r>
            <a:endParaRPr lang="en-US" sz="1900" dirty="0"/>
          </a:p>
        </p:txBody>
      </p:sp>
      <p:sp>
        <p:nvSpPr>
          <p:cNvPr id="23" name="Text 16"/>
          <p:cNvSpPr txBox="1"/>
          <p:nvPr/>
        </p:nvSpPr>
        <p:spPr>
          <a:xfrm>
            <a:off x="8034528" y="3611880"/>
            <a:ext cx="16245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Validar con evidencia</a:t>
            </a:r>
            <a:endParaRPr lang="en-US" sz="1400" dirty="0"/>
          </a:p>
        </p:txBody>
      </p:sp>
      <p:sp>
        <p:nvSpPr>
          <p:cNvPr id="24" name="Circulo"/>
          <p:cNvSpPr/>
          <p:nvPr/>
        </p:nvSpPr>
        <p:spPr>
          <a:xfrm>
            <a:off x="1023366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2260" y="205740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841992" y="2926080"/>
            <a:ext cx="1697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Conclusiones</a:t>
            </a:r>
            <a:endParaRPr lang="en-US" sz="1900" dirty="0"/>
          </a:p>
        </p:txBody>
      </p:sp>
      <p:sp>
        <p:nvSpPr>
          <p:cNvPr id="27" name="Text 19"/>
          <p:cNvSpPr txBox="1"/>
          <p:nvPr/>
        </p:nvSpPr>
        <p:spPr>
          <a:xfrm>
            <a:off x="9878568" y="3611880"/>
            <a:ext cx="16245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Variables para el modelo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gráfico uso?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291840"/>
                <a:gridCol w="4114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Pregunta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Variables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Gráfico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¿Cómo se distribuye?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Numérica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Histograma, KDE, violín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¿Cómo se distribuye?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Categórica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Barras (value_counts)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¿Se relaciona con el target?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Numérica vs. numérica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Scatter + línea, correlación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¿Se relaciona con el target?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Categórica vs. numérica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Boxplot ordenado por mediana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¿Hay outliers?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Numérica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Boxplot, regla IQR, scatter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¿Cómo se relacionan todas?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Numéricas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Heatmap de correlación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variables que más se relacionan con el precio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"/>
          <p:cNvSpPr/>
          <p:nvPr/>
        </p:nvSpPr>
        <p:spPr>
          <a:xfrm>
            <a:off x="7772400" y="1371600"/>
            <a:ext cx="3840480" cy="47548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046720" y="1554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Lectura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2103120"/>
            <a:ext cx="3291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Calidad y área dominan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TotalSF (creada en el módulo 04) está en el top 2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Ojo: HouseAge y YearBuilt tienen r ≈ -1 entre sí (multicolinealidad)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Pearson solo mide relaciones lineales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Outliers: detectar ≠ eliminar</a:t>
            </a:r>
            <a:endParaRPr lang="en-US" sz="3200" dirty="0"/>
          </a:p>
        </p:txBody>
      </p:sp>
      <p:sp>
        <p:nvSpPr>
          <p:cNvPr id="3" name="Circulo"/>
          <p:cNvSpPr/>
          <p:nvPr/>
        </p:nvSpPr>
        <p:spPr>
          <a:xfrm>
            <a:off x="548640" y="14630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417320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Regla IQR: es una alerta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874520"/>
            <a:ext cx="10104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TotalBath sale con 27 % de "outliers" porque es discreta. Siempre mira el gráfico.</a:t>
            </a:r>
            <a:endParaRPr lang="en-US" sz="1600" dirty="0"/>
          </a:p>
        </p:txBody>
      </p:sp>
      <p:sp>
        <p:nvSpPr>
          <p:cNvPr id="7" name="Circulo"/>
          <p:cNvSpPr/>
          <p:nvPr/>
        </p:nvSpPr>
        <p:spPr>
          <a:xfrm>
            <a:off x="548640" y="2990088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72968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944368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Las 2 casas gigantes y baratas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3401568"/>
            <a:ext cx="10104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Más de 4.500 pies², calidad 10, unos USD 170.000: Edwards, ventas Partial.</a:t>
            </a:r>
            <a:endParaRPr lang="en-US" sz="1600" dirty="0"/>
          </a:p>
        </p:txBody>
      </p:sp>
      <p:sp>
        <p:nvSpPr>
          <p:cNvPr id="11" name="Circulo"/>
          <p:cNvSpPr/>
          <p:nvPr/>
        </p:nvSpPr>
        <p:spPr>
          <a:xfrm>
            <a:off x="548640" y="4517136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700016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4471416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Decidir con criterio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4928616"/>
            <a:ext cx="10104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Eliminar, dejar o usar un modelo robusto. Documentar y comparar en el módulo 06.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de hipótesis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645920"/>
                <a:gridCol w="5212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Hipótesis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Evidencia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H1: la calidad es el factor más importante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Confirmada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r = 0.79; +20-45 % por punto de calidad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H2: más área, más precio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Confirmada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r = 0.71-0.78, con 2 excepciones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H3: el barrio importa a igual calidad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Confirmada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Calidad 7: de USD 156.000 a 228.000 (+46 %)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H4: remodelar suma valor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Confirmada con matices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+5 % a 12 % a igual edad; r ≈ 0 sin controlar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H4 muestra una variable de confusión: la edad escondía el efecto de remodelar.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lo"/>
          <p:cNvSpPr/>
          <p:nvPr/>
        </p:nvSpPr>
        <p:spPr>
          <a:xfrm>
            <a:off x="822960" y="146304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7145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69748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relación puede aparecer, o desaparecer, cuando comparas casas de la misma edad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8006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E1"/>
                </a:solidFill>
              </a:rPr>
              <a:t>Controlar por una tercera variable es la diferencia entre una gráfica y un hallazgo.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2 · Salas de Zoom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371600"/>
            <a:ext cx="4206240" cy="475488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/>
        </p:spPr>
      </p:sp>
      <p:sp>
        <p:nvSpPr>
          <p:cNvPr id="4" name="Circulo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7716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Equipos de 3 · 60 min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Objetivo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Validar las hipótesis del charter y llegar a 5 hallazgos que justifiquen las variables del modelo.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Viene de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data/processed/ (módulo 04) e hipótesis del perfil (módulo 03).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Va 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Módulo 06: el baseline usa estas variables.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074920" y="137160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Pasos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074920" y="19659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749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715000" y="192024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Generar el EDA automático con reporte_eda.py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74920" y="273177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74920" y="27317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68605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Repartir las hipótesis: una o dos por integrante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074920" y="34975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74920" y="3497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15000" y="345186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Validar cada una: gráfico/tabla, resultado y si se controló por otra variable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74920" y="426339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074920" y="426339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21767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Tabla de 5 hallazgos y lista de variables candidatas y descartadas</a:t>
            </a:r>
            <a:endParaRPr lang="en-US" sz="1600" dirty="0"/>
          </a:p>
        </p:txBody>
      </p:sp>
      <p:sp>
        <p:nvSpPr>
          <p:cNvPr id="21" name="Tarjeta"/>
          <p:cNvSpPr/>
          <p:nvPr/>
        </p:nvSpPr>
        <p:spPr>
          <a:xfrm>
            <a:off x="5074920" y="5074920"/>
            <a:ext cx="6537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303520" y="507492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Entregable: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notebooks/05_eda.ipynb que corre completo, con 5 hallazgos e hipótesis marcadas confirmadas, rechazadas o no concluyentes.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llevar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81912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150876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Empieza siempre por el target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50592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23774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Elige el gráfico según el tipo de variable</a:t>
            </a:r>
            <a:endParaRPr lang="en-US" sz="1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19272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325880" y="324612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Un outlier se investiga antes de eliminarlo</a:t>
            </a:r>
            <a:endParaRPr lang="en-US" sz="1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87952"/>
            <a:ext cx="411480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325880" y="41148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Controla por otras variables antes de concluir</a:t>
            </a:r>
            <a:endParaRPr lang="en-US" sz="1900" dirty="0"/>
          </a:p>
        </p:txBody>
      </p:sp>
      <p:sp>
        <p:nvSpPr>
          <p:cNvPr id="11" name="Tarjeta"/>
          <p:cNvSpPr/>
          <p:nvPr/>
        </p:nvSpPr>
        <p:spPr>
          <a:xfrm>
            <a:off x="7955280" y="150876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accent2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8229600" y="173736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06 · Modelado y métricas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Tengan claro el tipo de problema y la métrica de éxito.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alitica UdeM">
  <a:themeElements>
    <a:clrScheme name="Analitica UdeM">
      <a:dk1>
        <a:srgbClr val="1B2A2F"/>
      </a:dk1>
      <a:lt1>
        <a:srgbClr val="FFFFFF"/>
      </a:lt1>
      <a:dk2>
        <a:srgbClr val="0F3D3E"/>
      </a:dk2>
      <a:lt2>
        <a:srgbClr val="EEF4F3"/>
      </a:lt2>
      <a:accent1>
        <a:srgbClr val="E09F3E"/>
      </a:accent1>
      <a:accent2>
        <a:srgbClr val="2A9D8F"/>
      </a:accent2>
      <a:accent3>
        <a:srgbClr val="9E2A2B"/>
      </a:accent3>
      <a:accent4>
        <a:srgbClr val="5B7F95"/>
      </a:accent4>
      <a:accent5>
        <a:srgbClr val="84A98C"/>
      </a:accent5>
      <a:accent6>
        <a:srgbClr val="C8553D"/>
      </a:accent6>
      <a:hlink>
        <a:srgbClr val="2A9D8F"/>
      </a:hlink>
      <a:folHlink>
        <a:srgbClr val="5B7F95"/>
      </a:folHlink>
    </a:clrScheme>
    <a:fontScheme name="Analitica Ude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Universidad de Medellín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05: EDA</dc:title>
  <dc:subject>PptxGenJS Presentation</dc:subject>
  <dc:creator>María Camila Durango</dc:creator>
  <cp:lastModifiedBy>María Camila Durango</cp:lastModifiedBy>
  <cp:revision>1</cp:revision>
  <dcterms:created xsi:type="dcterms:W3CDTF">2026-10-17T01:04:37Z</dcterms:created>
  <dcterms:modified xsi:type="dcterms:W3CDTF">2026-10-17T01:04:37Z</dcterms:modified>
</cp:coreProperties>
</file>