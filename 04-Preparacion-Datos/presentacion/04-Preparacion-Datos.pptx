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4dda75d0-1657-2dce-39d0-b5bc315f8bb1}">
          <p14:sldIdLst>
            <p14:sldId id="256"/>
            <p14:sldId id="257"/>
          </p14:sldIdLst>
        </p14:section>
        <p14:section name="Limpieza" id="{724c4ec8-7945-fed0-c1b3-f3bb3e570d49}">
          <p14:sldIdLst>
            <p14:sldId id="258"/>
            <p14:sldId id="259"/>
            <p14:sldId id="260"/>
          </p14:sldIdLst>
        </p14:section>
        <p14:section name="Integración" id="{ab846e95-f632-b0b6-4b20-d750e1959b00}">
          <p14:sldIdLst>
            <p14:sldId id="261"/>
          </p14:sldIdLst>
        </p14:section>
        <p14:section name="Transformación" id="{3ad95569-4352-660a-25dd-137e6ea50282}">
          <p14:sldIdLst>
            <p14:sldId id="262"/>
          </p14:sldIdLst>
        </p14:section>
        <p14:section name="Data leakage" id="{09550330-25f6-b053-9702-71b54e577970}">
          <p14:sldIdLst>
            <p14:sldId id="263"/>
          </p14:sldIdLst>
        </p14:section>
        <p14:section name="Caso House Prices" id="{ad01bd6c-3c7b-3762-8f0d-8ad685a9fbb2}">
          <p14:sldIdLst>
            <p14:sldId id="264"/>
            <p14:sldId id="265"/>
          </p14:sldIdLst>
        </p14:section>
        <p14:section name="Trabajo en salas" id="{9ccfae0c-70c4-b7f3-f2de-380e97440f7f}">
          <p14:sldIdLst>
            <p14:sldId id="266"/>
          </p14:sldIdLst>
        </p14:section>
        <p14:section name="Cierre" id="{7c4ba0cf-2dbf-8225-e9f1-4f04bf5dfb7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Universidad de Medellín · Especialización en Analítica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5C3"/>
                </a:solidFill>
              </a:rPr>
              <a:t>Proyecto 1 · Introducción a la Analítica · Módulo 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8F"/>
                </a:solidFill>
              </a:rPr>
              <a:t>Proyecto 1 · Introducción a la Analítica · Módulo 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</a:rPr>
              <a:t>MÓDULO 04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de datos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1"/>
                </a:solidFill>
              </a:rPr>
              <a:t>Garbage in, garbage out: cada decisión de limpieza cambia los resultados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5C3"/>
                </a:solidFill>
              </a:rPr>
              <a:t>María Camila Durango · basado en el material del prof. Oscar N. Gómez Giraldo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463040"/>
            <a:ext cx="2560320" cy="2560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Limpieza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Nulos, duplicados y formatos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23672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11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528828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Integración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1104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Joins y cómo validarlos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792480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91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99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897636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Transformación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9912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Escalar y codificar</a:t>
            </a:r>
            <a:endParaRPr lang="en-US" sz="1700" dirty="0"/>
          </a:p>
        </p:txBody>
      </p:sp>
      <p:sp>
        <p:nvSpPr>
          <p:cNvPr id="18" name="Tarjeta"/>
          <p:cNvSpPr/>
          <p:nvPr/>
        </p:nvSpPr>
        <p:spPr>
          <a:xfrm>
            <a:off x="54864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4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Data leakage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error más caro</a:t>
            </a:r>
            <a:endParaRPr lang="en-US" sz="1700" dirty="0"/>
          </a:p>
        </p:txBody>
      </p:sp>
      <p:sp>
        <p:nvSpPr>
          <p:cNvPr id="23" name="Tarjeta"/>
          <p:cNvSpPr/>
          <p:nvPr/>
        </p:nvSpPr>
        <p:spPr>
          <a:xfrm>
            <a:off x="423672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104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5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528828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Caso House Prices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1104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19 columnas con nulos</a:t>
            </a:r>
            <a:endParaRPr lang="en-US" sz="1700" dirty="0"/>
          </a:p>
        </p:txBody>
      </p:sp>
      <p:sp>
        <p:nvSpPr>
          <p:cNvPr id="28" name="Tarjeta"/>
          <p:cNvSpPr/>
          <p:nvPr/>
        </p:nvSpPr>
        <p:spPr>
          <a:xfrm>
            <a:off x="792480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819912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991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6</a:t>
            </a:r>
            <a:endParaRPr lang="en-US" sz="1540" dirty="0"/>
          </a:p>
        </p:txBody>
      </p:sp>
      <p:sp>
        <p:nvSpPr>
          <p:cNvPr id="31" name="Text 29"/>
          <p:cNvSpPr txBox="1"/>
          <p:nvPr/>
        </p:nvSpPr>
        <p:spPr>
          <a:xfrm>
            <a:off x="897636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Salas de Zoom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9912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limpieza del equipo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tres tareas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1. Limpieza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Nulos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Duplicados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Formatos: fechas, texto, monedas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Errores (precio &lt; 0)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32816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9" name="Circulo"/>
          <p:cNvSpPr/>
          <p:nvPr/>
        </p:nvSpPr>
        <p:spPr>
          <a:xfrm>
            <a:off x="460248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930" y="18630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2. Integración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Joins (merge)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Llaves distintas o compuestas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Validar la cardinalidad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810768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14" name="Circulo"/>
          <p:cNvSpPr/>
          <p:nvPr/>
        </p:nvSpPr>
        <p:spPr>
          <a:xfrm>
            <a:off x="838200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450" y="1863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3. Transformación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Escalado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Encoding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Variables nuevas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hago con un nulo? Primero: ¿por qué falta?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392680" y="2286000"/>
            <a:ext cx="737616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93548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408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3541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No existe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34686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tiene piscina → codificar "No Pool", 0 o -1</a:t>
            </a:r>
            <a:endParaRPr lang="en-US" sz="1600" dirty="0"/>
          </a:p>
        </p:txBody>
      </p:sp>
      <p:sp>
        <p:nvSpPr>
          <p:cNvPr id="8" name="Circulo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09872" y="2926080"/>
            <a:ext cx="3541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No se registró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4346448" y="3611880"/>
            <a:ext cx="34686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Falla de captura → imputar (mediana, moda, por grupo)</a:t>
            </a:r>
            <a:endParaRPr lang="en-US" sz="1600" dirty="0"/>
          </a:p>
        </p:txBody>
      </p:sp>
      <p:sp>
        <p:nvSpPr>
          <p:cNvPr id="12" name="Circulo"/>
          <p:cNvSpPr/>
          <p:nvPr/>
        </p:nvSpPr>
        <p:spPr>
          <a:xfrm>
            <a:off x="931164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024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997952" y="2926080"/>
            <a:ext cx="35417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Es inconsistente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8034528" y="3611880"/>
            <a:ext cx="34686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Tiene sótano sin datos → eliminar si son pocas filas</a:t>
            </a:r>
            <a:endParaRPr lang="en-US" sz="1600" dirty="0"/>
          </a:p>
        </p:txBody>
      </p:sp>
      <p:sp>
        <p:nvSpPr>
          <p:cNvPr id="16" name="Tarjeta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Imputar PoolQC con la moda sería inventar piscinas.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Estrategias de imputación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Estrategia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Cuándo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Cuidado con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Media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Distribución simétrica, pocos nulos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Outliers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Mediana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Asimétrica (precios, ingresos)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Ignora otras variables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Moda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Categóricas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Infla la categoría más común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Valor fijo / centinela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El nulo significa algo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No usar el centinela en cálculos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Por grupo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El valor depende de otra variable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Grupos pequeños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Eliminar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Muy pocos y al azar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Sesgar la muestra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 con red de seguridad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1E2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pd.merge(clientes, ventas,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on="customer_id",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how="left",              # inner | left | right | outer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validate="one_to_many",  # avisa si la llave se repite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indicator=True)          # columna _merge: ¿de dónde vino?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 a paso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196596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inner: solo lo común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left: todo lo de la izquierda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outer: todo, para auditar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validate evita que las filas se multipliquen sin darte cuenta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indicator ayuda a auditar el resultado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Escalar y codificar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Transformación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Qué hace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¿Los árboles la necesitan?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StandardScaler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Media 0 y desviación 1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MinMaxScaler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Valores entre 0 y 1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No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OneHotEncoder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Una columna 0/1 por categoría (sin orden)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Sí, hay que codificar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OrdinalEncoder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Po &lt; Fa &lt; TA &lt; Gd &lt; Ex → 0, 1, 2… (tú das el orden)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Sí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LabelEncoder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Pensado para el target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Todo modelo es f(x; w): las categorías deben ser números y la escala importa para distancias y gradientes.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"/>
          <p:cNvSpPr/>
          <p:nvPr/>
        </p:nvSpPr>
        <p:spPr>
          <a:xfrm>
            <a:off x="822960" y="14630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7145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69748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leakage: el test se "filtra" en el entrenamiento y las métricas mienten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1"/>
                </a:solidFill>
              </a:rPr>
              <a:t>Regla: fit solo con train, transform en train y test. En el módulo 07 los Pipelines lo harán automáticamente.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Prices: decisiones con criterio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29184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Columnas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Decisión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Por qué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PoolQC, Alley, Fence, MiscFeature, FireplaceQu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"No …"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Diccionario: NA = no tiene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LotFrontage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No hay ceros: sin frente a la calle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Bsmt*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"No Basement" si TotalBsmtSF = 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Nulos en bloque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Garage*, GarageYrBlt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"No Garage", -1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Nulos en bloque; centinela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8 filas inconsistentes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Eliminar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Menos del 1 % de los datos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de la limpieza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7.829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celdas nulas al inicio</a:t>
            </a:r>
            <a:endParaRPr lang="en-US" sz="1500" dirty="0"/>
          </a:p>
        </p:txBody>
      </p:sp>
      <p:sp>
        <p:nvSpPr>
          <p:cNvPr id="6" name="Tarjeta"/>
          <p:cNvSpPr/>
          <p:nvPr/>
        </p:nvSpPr>
        <p:spPr>
          <a:xfrm>
            <a:off x="338328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celdas nulas al final</a:t>
            </a:r>
            <a:endParaRPr lang="en-US" sz="1500" dirty="0"/>
          </a:p>
        </p:txBody>
      </p:sp>
      <p:sp>
        <p:nvSpPr>
          <p:cNvPr id="9" name="Tarjeta"/>
          <p:cNvSpPr/>
          <p:nvPr/>
        </p:nvSpPr>
        <p:spPr>
          <a:xfrm>
            <a:off x="621792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0.5 %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filas eliminadas (8 de 1.460)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9052560" y="1554480"/>
            <a:ext cx="2560320" cy="29260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35440" y="1783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31546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correlación de TotalSF, una variable nueva</a:t>
            </a:r>
            <a:endParaRPr lang="en-US" sz="1500" dirty="0"/>
          </a:p>
        </p:txBody>
      </p:sp>
      <p:sp>
        <p:nvSpPr>
          <p:cNvPr id="15" name="Tarjeta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75488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Toda la lógica vive en src/intro_analitica/limpieza.py: el notebook explica, el script repite.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Salas de Zoom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Equipos de 3 · 60 min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Objetivo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Escribir la limpieza del proyecto como funciones reutilizables y un registro de decisiones.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Viene de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docs/02_perfil_inicial.md (módulo 03).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Módulo 05: el EDA se hace sobre data/processed/.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13716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7492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74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192024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Repartir las columnas problemáticas en tres grupos, una rama por persona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74920" y="273177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74920" y="27317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8605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Explorar 2 alternativas por columna en un notebook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74920" y="34975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74920" y="3497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45186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Pasar a funciones en src/limpieza.py (una por paso)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74920" y="426339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74920" y="42633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21767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Escribir docs/03_decisiones_limpieza.md</a:t>
            </a:r>
            <a:endParaRPr lang="en-US" sz="1600" dirty="0"/>
          </a:p>
        </p:txBody>
      </p:sp>
      <p:sp>
        <p:nvSpPr>
          <p:cNvPr id="21" name="Tarjeta"/>
          <p:cNvSpPr/>
          <p:nvPr/>
        </p:nvSpPr>
        <p:spPr>
          <a:xfrm>
            <a:off x="5074920" y="5074920"/>
            <a:ext cx="6537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303520" y="50749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Entregable: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src/limpieza.py que corre de principio a fin, 5 decisiones justificadas y 2 variables nuevas.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1912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508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Antes de imputar: ¿por qué falta el dato?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0592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Validar los joins: validate e indicator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9272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25880" y="32461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One-hot si no hay orden; ordinal si lo hay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2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25880" y="4114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Fit solo en train: cero leakage</a:t>
            </a:r>
            <a:endParaRPr lang="en-US" sz="1900" dirty="0"/>
          </a:p>
        </p:txBody>
      </p:sp>
      <p:sp>
        <p:nvSpPr>
          <p:cNvPr id="11" name="Tarjeta"/>
          <p:cNvSpPr/>
          <p:nvPr/>
        </p:nvSpPr>
        <p:spPr>
          <a:xfrm>
            <a:off x="7955280" y="150876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2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229600" y="1737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 · EDA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Generen data/processed/&lt;archivo&gt;_limpio.csv.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itica UdeM">
  <a:themeElements>
    <a:clrScheme name="Analitica UdeM">
      <a:dk1>
        <a:srgbClr val="1B2A2F"/>
      </a:dk1>
      <a:lt1>
        <a:srgbClr val="FFFFFF"/>
      </a:lt1>
      <a:dk2>
        <a:srgbClr val="0F3D3E"/>
      </a:dk2>
      <a:lt2>
        <a:srgbClr val="EEF4F3"/>
      </a:lt2>
      <a:accent1>
        <a:srgbClr val="E09F3E"/>
      </a:accent1>
      <a:accent2>
        <a:srgbClr val="2A9D8F"/>
      </a:accent2>
      <a:accent3>
        <a:srgbClr val="9E2A2B"/>
      </a:accent3>
      <a:accent4>
        <a:srgbClr val="5B7F95"/>
      </a:accent4>
      <a:accent5>
        <a:srgbClr val="84A98C"/>
      </a:accent5>
      <a:accent6>
        <a:srgbClr val="C8553D"/>
      </a:accent6>
      <a:hlink>
        <a:srgbClr val="2A9D8F"/>
      </a:hlink>
      <a:folHlink>
        <a:srgbClr val="5B7F95"/>
      </a:folHlink>
    </a:clrScheme>
    <a:fontScheme name="Analitica Ud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de Medellín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04: Preparación de datos</dc:title>
  <dc:subject>PptxGenJS Presentation</dc:subject>
  <dc:creator>María Camila Durango</dc:creator>
  <cp:lastModifiedBy>María Camila Durango</cp:lastModifiedBy>
  <cp:revision>1</cp:revision>
  <dcterms:created xsi:type="dcterms:W3CDTF">2026-10-17T01:04:37Z</dcterms:created>
  <dcterms:modified xsi:type="dcterms:W3CDTF">2026-10-17T01:04:37Z</dcterms:modified>
</cp:coreProperties>
</file>