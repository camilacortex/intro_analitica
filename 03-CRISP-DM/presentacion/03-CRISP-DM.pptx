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222331db-b463-2b68-2cd1-dadf3e203865}">
          <p14:sldIdLst>
            <p14:sldId id="256"/>
            <p14:sldId id="257"/>
          </p14:sldIdLst>
        </p14:section>
        <p14:section name="¿Por qué una metodología?" id="{75f39453-5cb7-870d-cba9-9b0c3a45616f}">
          <p14:sldIdLst>
            <p14:sldId id="258"/>
          </p14:sldIdLst>
        </p14:section>
        <p14:section name="El ciclo" id="{629f5f9c-7b2d-4f02-fe04-6a5b3be2ad36}">
          <p14:sldIdLst>
            <p14:sldId id="259"/>
          </p14:sldIdLst>
        </p14:section>
        <p14:section name="Fases 1 y 2" id="{1329b31d-1d17-844b-7158-85deca4ebb2b}">
          <p14:sldIdLst>
            <p14:sldId id="260"/>
            <p14:sldId id="261"/>
          </p14:sldIdLst>
        </p14:section>
        <p14:section name="Caso House Prices" id="{e4da9cef-53ea-67c1-e56d-df226e85235a}">
          <p14:sldIdLst>
            <p14:sldId id="262"/>
          </p14:sldIdLst>
        </p14:section>
        <p14:section name="Fases 3 a 6" id="{6e4ca52c-6ed5-55c3-a18c-5058b728b1d0}">
          <p14:sldIdLst>
            <p14:sldId id="263"/>
            <p14:sldId id="264"/>
            <p14:sldId id="265"/>
          </p14:sldIdLst>
        </p14:section>
        <p14:section name="Trabajo en salas" id="{05993aad-cfb3-784a-3650-3f3f4c616b91}">
          <p14:sldIdLst>
            <p14:sldId id="266"/>
          </p14:sldIdLst>
        </p14:section>
        <p14:section name="Cierre" id="{ef9efaaa-236a-3bbe-1e2c-d656054354a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Universidad de Medellín · Especialización en Analítica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5C3"/>
                </a:solidFill>
              </a:rPr>
              <a:t>Proyecto 1 · Introducción a la Analítica · Módulo 03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8F"/>
                </a:solidFill>
              </a:rPr>
              <a:t>Proyecto 1 · Introducción a la Analítica · Módulo 03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</a:rPr>
              <a:t>MÓDULO 03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CRISP-DM: la metodología para proyectos de datos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1"/>
                </a:solidFill>
              </a:rPr>
              <a:t>Un mapa para saber dónde estamos y hacia dónde vamos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5C3"/>
                </a:solidFill>
              </a:rPr>
              <a:t>María Camila Durango · basado en el material del prof. Oscar N. Gómez Giraldo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52560" y="1463040"/>
            <a:ext cx="2560320" cy="25603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574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1</a:t>
            </a:r>
            <a:endParaRPr lang="en-US" sz="154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¿Por qué una metodología?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Por qué fallan los proyectos de datos</a:t>
            </a:r>
            <a:endParaRPr lang="en-US" sz="1700" dirty="0"/>
          </a:p>
        </p:txBody>
      </p:sp>
      <p:sp>
        <p:nvSpPr>
          <p:cNvPr id="8" name="Tarjeta"/>
          <p:cNvSpPr/>
          <p:nvPr/>
        </p:nvSpPr>
        <p:spPr>
          <a:xfrm>
            <a:off x="423672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5110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110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2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528828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El ciclo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1104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6 fases e iteración</a:t>
            </a:r>
            <a:endParaRPr lang="en-US" sz="1700" dirty="0"/>
          </a:p>
        </p:txBody>
      </p:sp>
      <p:sp>
        <p:nvSpPr>
          <p:cNvPr id="13" name="Tarjeta"/>
          <p:cNvSpPr/>
          <p:nvPr/>
        </p:nvSpPr>
        <p:spPr>
          <a:xfrm>
            <a:off x="792480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19912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991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3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897636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Fases 1 y 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9912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Negocio y datos, en detalle</a:t>
            </a:r>
            <a:endParaRPr lang="en-US" sz="1700" dirty="0"/>
          </a:p>
        </p:txBody>
      </p:sp>
      <p:sp>
        <p:nvSpPr>
          <p:cNvPr id="18" name="Tarjeta"/>
          <p:cNvSpPr/>
          <p:nvPr/>
        </p:nvSpPr>
        <p:spPr>
          <a:xfrm>
            <a:off x="54864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4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Fases 3 a 6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Preparación, modelado, evaluación y despliegue</a:t>
            </a:r>
            <a:endParaRPr lang="en-US" sz="1700" dirty="0"/>
          </a:p>
        </p:txBody>
      </p:sp>
      <p:sp>
        <p:nvSpPr>
          <p:cNvPr id="23" name="Tarjeta"/>
          <p:cNvSpPr/>
          <p:nvPr/>
        </p:nvSpPr>
        <p:spPr>
          <a:xfrm>
            <a:off x="423672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1104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10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5</a:t>
            </a:r>
            <a:endParaRPr lang="en-US" sz="1540" dirty="0"/>
          </a:p>
        </p:txBody>
      </p:sp>
      <p:sp>
        <p:nvSpPr>
          <p:cNvPr id="26" name="Text 24"/>
          <p:cNvSpPr txBox="1"/>
          <p:nvPr/>
        </p:nvSpPr>
        <p:spPr>
          <a:xfrm>
            <a:off x="528828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Caso House Prices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1104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Charter y perfil inicial</a:t>
            </a:r>
            <a:endParaRPr lang="en-US" sz="1700" dirty="0"/>
          </a:p>
        </p:txBody>
      </p:sp>
      <p:sp>
        <p:nvSpPr>
          <p:cNvPr id="28" name="Tarjeta"/>
          <p:cNvSpPr/>
          <p:nvPr/>
        </p:nvSpPr>
        <p:spPr>
          <a:xfrm>
            <a:off x="792480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819912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991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6</a:t>
            </a:r>
            <a:endParaRPr lang="en-US" sz="1540" dirty="0"/>
          </a:p>
        </p:txBody>
      </p:sp>
      <p:sp>
        <p:nvSpPr>
          <p:cNvPr id="31" name="Text 29"/>
          <p:cNvSpPr txBox="1"/>
          <p:nvPr/>
        </p:nvSpPr>
        <p:spPr>
          <a:xfrm>
            <a:off x="897636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Salas de Zoom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19912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El charter del equipo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proyectos de datos rara vez fallan por el algoritmo</a:t>
            </a:r>
            <a:endParaRPr lang="en-US" sz="3200" dirty="0"/>
          </a:p>
        </p:txBody>
      </p:sp>
      <p:sp>
        <p:nvSpPr>
          <p:cNvPr id="3" name="Circulo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417320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Se resolvió el problema equivocado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874520"/>
            <a:ext cx="5715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Nadie habló con el negocio antes de empezar</a:t>
            </a:r>
            <a:endParaRPr lang="en-US" sz="1600" dirty="0"/>
          </a:p>
        </p:txBody>
      </p:sp>
      <p:sp>
        <p:nvSpPr>
          <p:cNvPr id="7" name="Circulo"/>
          <p:cNvSpPr/>
          <p:nvPr/>
        </p:nvSpPr>
        <p:spPr>
          <a:xfrm>
            <a:off x="548640" y="299008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72968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944368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Los datos no servían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3401568"/>
            <a:ext cx="5715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 nadie lo notó a tiempo</a:t>
            </a:r>
            <a:endParaRPr lang="en-US" sz="1600" dirty="0"/>
          </a:p>
        </p:txBody>
      </p:sp>
      <p:sp>
        <p:nvSpPr>
          <p:cNvPr id="11" name="Circulo"/>
          <p:cNvSpPr/>
          <p:nvPr/>
        </p:nvSpPr>
        <p:spPr>
          <a:xfrm>
            <a:off x="548640" y="4517136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70001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4471416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El modelo nunca se usó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928616"/>
            <a:ext cx="5715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había forma de llevarlo a producción</a:t>
            </a:r>
            <a:endParaRPr lang="en-US" sz="1600" dirty="0"/>
          </a:p>
        </p:txBody>
      </p:sp>
      <p:sp>
        <p:nvSpPr>
          <p:cNvPr id="15" name="Tarjeta"/>
          <p:cNvSpPr/>
          <p:nvPr/>
        </p:nvSpPr>
        <p:spPr>
          <a:xfrm>
            <a:off x="7589520" y="1417320"/>
            <a:ext cx="4023360" cy="466344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863840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CRISP-DM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7863840" y="237744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Cross-Industry Standard Process for Data Mining. Creado a finales de los 90. Sistemático, versátil, repetible y orientado al negocio.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CRISP-DM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70660" y="2286000"/>
            <a:ext cx="922020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Circulo"/>
          <p:cNvSpPr/>
          <p:nvPr/>
        </p:nvSpPr>
        <p:spPr>
          <a:xfrm>
            <a:off x="101346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06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926080"/>
            <a:ext cx="1697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1. Negocio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611880"/>
            <a:ext cx="1624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¿Qué problema y cómo medimos el éxito?</a:t>
            </a:r>
            <a:endParaRPr lang="en-US" sz="1400" dirty="0"/>
          </a:p>
        </p:txBody>
      </p:sp>
      <p:sp>
        <p:nvSpPr>
          <p:cNvPr id="8" name="Circulo"/>
          <p:cNvSpPr/>
          <p:nvPr/>
        </p:nvSpPr>
        <p:spPr>
          <a:xfrm>
            <a:off x="285750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2057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465832" y="2926080"/>
            <a:ext cx="1697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2. Datos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2502408" y="3611880"/>
            <a:ext cx="1624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¿Qué tenemos y qué tan bueno es?</a:t>
            </a:r>
            <a:endParaRPr lang="en-US" sz="1400" dirty="0"/>
          </a:p>
        </p:txBody>
      </p:sp>
      <p:sp>
        <p:nvSpPr>
          <p:cNvPr id="12" name="Circulo"/>
          <p:cNvSpPr/>
          <p:nvPr/>
        </p:nvSpPr>
        <p:spPr>
          <a:xfrm>
            <a:off x="470154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140" y="2057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309872" y="2926080"/>
            <a:ext cx="1697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3. Preparación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4346448" y="3611880"/>
            <a:ext cx="1624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Limpiar, transformar, crear variables</a:t>
            </a:r>
            <a:endParaRPr lang="en-US" sz="1400" dirty="0"/>
          </a:p>
        </p:txBody>
      </p:sp>
      <p:sp>
        <p:nvSpPr>
          <p:cNvPr id="16" name="Circulo"/>
          <p:cNvSpPr/>
          <p:nvPr/>
        </p:nvSpPr>
        <p:spPr>
          <a:xfrm>
            <a:off x="654558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180" y="20574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153912" y="2926080"/>
            <a:ext cx="1697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4. Modelado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6190488" y="3611880"/>
            <a:ext cx="1624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Algoritmos y métricas</a:t>
            </a:r>
            <a:endParaRPr lang="en-US" sz="1400" dirty="0"/>
          </a:p>
        </p:txBody>
      </p:sp>
      <p:sp>
        <p:nvSpPr>
          <p:cNvPr id="20" name="Circulo"/>
          <p:cNvSpPr/>
          <p:nvPr/>
        </p:nvSpPr>
        <p:spPr>
          <a:xfrm>
            <a:off x="838962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8220" y="20574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997952" y="2926080"/>
            <a:ext cx="1697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5. Evaluación</a:t>
            </a:r>
            <a:endParaRPr lang="en-US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8034528" y="3611880"/>
            <a:ext cx="1624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¿Cumple el objetivo de negocio?</a:t>
            </a:r>
            <a:endParaRPr lang="en-US" sz="1400" dirty="0"/>
          </a:p>
        </p:txBody>
      </p:sp>
      <p:sp>
        <p:nvSpPr>
          <p:cNvPr id="24" name="Circulo"/>
          <p:cNvSpPr/>
          <p:nvPr/>
        </p:nvSpPr>
        <p:spPr>
          <a:xfrm>
            <a:off x="1023366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2260" y="205740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841992" y="2926080"/>
            <a:ext cx="1697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6. Despliegue</a:t>
            </a:r>
            <a:endParaRPr lang="en-US" sz="1900" dirty="0"/>
          </a:p>
        </p:txBody>
      </p:sp>
      <p:sp>
        <p:nvSpPr>
          <p:cNvPr id="27" name="Text 19"/>
          <p:cNvSpPr txBox="1"/>
          <p:nvPr/>
        </p:nvSpPr>
        <p:spPr>
          <a:xfrm>
            <a:off x="9878568" y="3611880"/>
            <a:ext cx="1624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 alguien lo use</a:t>
            </a:r>
            <a:endParaRPr lang="en-US" sz="1400" dirty="0"/>
          </a:p>
        </p:txBody>
      </p:sp>
      <p:sp>
        <p:nvSpPr>
          <p:cNvPr id="28" name="Tarjeta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La iteración es el eje central: volver atrás es normal y saludable.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1: del negocio al objetivo de ciencia de datos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Nivel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Churn (profesor)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Inmobiliaria (curso)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Negocio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Reducir la pérdida de clientes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Dar avalúos rápidos y confiables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Ciencia de datos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Predecir la probabilidad de churn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Estimar SalePrice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Éxito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−10 % de churn real en 3 meses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MAPE &lt; 15 % y 80 % de casas a ±15 %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Entregables: problema y métricas de éxito · recursos, limitaciones y riesgos · plan → project charter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2: comprensión de los datos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3505200" cy="4663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/>
        </p:spPr>
      </p:sp>
      <p:sp>
        <p:nvSpPr>
          <p:cNvPr id="4" name="Circulo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630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¿Qué es una fila?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95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La primera pregunta, siempre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Define duplicados y agregaciones</a:t>
            </a:r>
            <a:endParaRPr lang="en-US" sz="1700" dirty="0"/>
          </a:p>
        </p:txBody>
      </p:sp>
      <p:sp>
        <p:nvSpPr>
          <p:cNvPr id="8" name="Tarjeta"/>
          <p:cNvSpPr/>
          <p:nvPr/>
        </p:nvSpPr>
        <p:spPr>
          <a:xfrm>
            <a:off x="4328160" y="1417320"/>
            <a:ext cx="3505200" cy="4663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/>
        </p:spPr>
      </p:sp>
      <p:sp>
        <p:nvSpPr>
          <p:cNvPr id="9" name="Circulo"/>
          <p:cNvSpPr/>
          <p:nvPr/>
        </p:nvSpPr>
        <p:spPr>
          <a:xfrm>
            <a:off x="460248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930" y="186309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2480" y="25146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Calidad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02480" y="3154680"/>
            <a:ext cx="295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Nulos y cardinalidad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Tipos mal leídos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Outliers y sesgos</a:t>
            </a:r>
            <a:endParaRPr lang="en-US" sz="1700" dirty="0"/>
          </a:p>
        </p:txBody>
      </p:sp>
      <p:sp>
        <p:nvSpPr>
          <p:cNvPr id="13" name="Tarjeta"/>
          <p:cNvSpPr/>
          <p:nvPr/>
        </p:nvSpPr>
        <p:spPr>
          <a:xfrm>
            <a:off x="8107680" y="1417320"/>
            <a:ext cx="3505200" cy="4663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/>
        </p:spPr>
      </p:sp>
      <p:sp>
        <p:nvSpPr>
          <p:cNvPr id="14" name="Circulo"/>
          <p:cNvSpPr/>
          <p:nvPr/>
        </p:nvSpPr>
        <p:spPr>
          <a:xfrm>
            <a:off x="838200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450" y="186309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82000" y="25146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Hipótesis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82000" y="3154680"/>
            <a:ext cx="295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Qué creemos que explica el target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 validan en el EDA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Prices: primer perfil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1.460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1546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ventas (filas)</a:t>
            </a:r>
            <a:endParaRPr lang="en-US" sz="1500" dirty="0"/>
          </a:p>
        </p:txBody>
      </p:sp>
      <p:sp>
        <p:nvSpPr>
          <p:cNvPr id="6" name="Tarjeta"/>
          <p:cNvSpPr/>
          <p:nvPr/>
        </p:nvSpPr>
        <p:spPr>
          <a:xfrm>
            <a:off x="3383280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66160" y="1783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31546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columnas</a:t>
            </a:r>
            <a:endParaRPr lang="en-US" sz="1500" dirty="0"/>
          </a:p>
        </p:txBody>
      </p:sp>
      <p:sp>
        <p:nvSpPr>
          <p:cNvPr id="9" name="Tarjeta"/>
          <p:cNvSpPr/>
          <p:nvPr/>
        </p:nvSpPr>
        <p:spPr>
          <a:xfrm>
            <a:off x="6217920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783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1546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columnas con nulos</a:t>
            </a:r>
            <a:endParaRPr lang="en-US" sz="1500" dirty="0"/>
          </a:p>
        </p:txBody>
      </p:sp>
      <p:sp>
        <p:nvSpPr>
          <p:cNvPr id="12" name="Tarjeta"/>
          <p:cNvSpPr/>
          <p:nvPr/>
        </p:nvSpPr>
        <p:spPr>
          <a:xfrm>
            <a:off x="9052560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35440" y="1783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31546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correlación de OverallQual con el precio</a:t>
            </a:r>
            <a:endParaRPr lang="en-US" sz="1500" dirty="0"/>
          </a:p>
        </p:txBody>
      </p:sp>
      <p:sp>
        <p:nvSpPr>
          <p:cNvPr id="15" name="Tarjeta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75488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PoolQC tiene 99.5 % de nulos… porque NA significa "no tiene piscina". Leer el diccionario evita errores graves.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3 a 6 (los próximos módulos)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2560320" cy="46634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Circulo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630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3. Preparación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Imputar, codificar, escalar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Feature engineering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Módulo 04</a:t>
            </a:r>
            <a:endParaRPr lang="en-US" sz="1500" dirty="0"/>
          </a:p>
        </p:txBody>
      </p:sp>
      <p:sp>
        <p:nvSpPr>
          <p:cNvPr id="8" name="Tarjeta"/>
          <p:cNvSpPr/>
          <p:nvPr/>
        </p:nvSpPr>
        <p:spPr>
          <a:xfrm>
            <a:off x="3383280" y="1417320"/>
            <a:ext cx="2560320" cy="46634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9" name="Circulo"/>
          <p:cNvSpPr/>
          <p:nvPr/>
        </p:nvSpPr>
        <p:spPr>
          <a:xfrm>
            <a:off x="365760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0" y="186309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4. Modelado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3154680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Candidatos + validación cruzada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¿Desempeño o interpretabilidad?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Módulos 06-07</a:t>
            </a:r>
            <a:endParaRPr lang="en-US" sz="1500" dirty="0"/>
          </a:p>
        </p:txBody>
      </p:sp>
      <p:sp>
        <p:nvSpPr>
          <p:cNvPr id="13" name="Tarjeta"/>
          <p:cNvSpPr/>
          <p:nvPr/>
        </p:nvSpPr>
        <p:spPr>
          <a:xfrm>
            <a:off x="6217920" y="1417320"/>
            <a:ext cx="2560320" cy="46634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4" name="Circulo"/>
          <p:cNvSpPr/>
          <p:nvPr/>
        </p:nvSpPr>
        <p:spPr>
          <a:xfrm>
            <a:off x="649224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690" y="186309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5. Evaluación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3154680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Objetivo de negocio, no solo métricas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Comunicar con storytelling</a:t>
            </a:r>
            <a:endParaRPr lang="en-US" sz="1500" dirty="0"/>
          </a:p>
        </p:txBody>
      </p:sp>
      <p:sp>
        <p:nvSpPr>
          <p:cNvPr id="18" name="Tarjeta"/>
          <p:cNvSpPr/>
          <p:nvPr/>
        </p:nvSpPr>
        <p:spPr>
          <a:xfrm>
            <a:off x="9052560" y="1417320"/>
            <a:ext cx="2560320" cy="46634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9" name="Circulo"/>
          <p:cNvSpPr/>
          <p:nvPr/>
        </p:nvSpPr>
        <p:spPr>
          <a:xfrm>
            <a:off x="932688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8330" y="186309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26880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6. Despliegue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326880" y="3154680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Tiempo real (API) o por lotes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Monitoreo y reentrenamiento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Módulo 08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para tu KPI</a:t>
            </a:r>
            <a:endParaRPr lang="en-US" sz="3200" dirty="0"/>
          </a:p>
        </p:txBody>
      </p:sp>
      <p:sp>
        <p:nvSpPr>
          <p:cNvPr id="3" name="Circulo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417320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¿Mide realmente lo que quiero?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87452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¿O es demasiado general?</a:t>
            </a:r>
            <a:endParaRPr lang="en-US" sz="1600" dirty="0"/>
          </a:p>
        </p:txBody>
      </p:sp>
      <p:sp>
        <p:nvSpPr>
          <p:cNvPr id="7" name="Circulo"/>
          <p:cNvSpPr/>
          <p:nvPr/>
        </p:nvSpPr>
        <p:spPr>
          <a:xfrm>
            <a:off x="548640" y="276148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44368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715768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¿Qué otros factores lo afectan?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3172968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¿Tengo control sobre ellos?</a:t>
            </a:r>
            <a:endParaRPr lang="en-US" sz="1600" dirty="0"/>
          </a:p>
        </p:txBody>
      </p:sp>
      <p:sp>
        <p:nvSpPr>
          <p:cNvPr id="11" name="Circulo"/>
          <p:cNvSpPr/>
          <p:nvPr/>
        </p:nvSpPr>
        <p:spPr>
          <a:xfrm>
            <a:off x="548640" y="4059936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4281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4014216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¿Qué tan difícil es medirlo?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47141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¿Hay fuentes? ¿Con qué periodicidad?</a:t>
            </a:r>
            <a:endParaRPr lang="en-US" sz="1600" dirty="0"/>
          </a:p>
        </p:txBody>
      </p:sp>
      <p:sp>
        <p:nvSpPr>
          <p:cNvPr id="15" name="Circulo"/>
          <p:cNvSpPr/>
          <p:nvPr/>
        </p:nvSpPr>
        <p:spPr>
          <a:xfrm>
            <a:off x="548640" y="5358384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541264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5312664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¿Los stakeholders están de acuerdo?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5769864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¿Se relaciona con la métrica del modelo?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"/>
          <p:cNvSpPr/>
          <p:nvPr/>
        </p:nvSpPr>
        <p:spPr>
          <a:xfrm>
            <a:off x="822960" y="14630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7145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69748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de moda: Random Forest con AUC = 0.84. ¿Cumple el objetivo de +15 % de recompra?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800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E1"/>
                </a:solidFill>
              </a:rPr>
              <a:t>Discusión en parejas: ¿qué riesgos ven? ¿Dónde podría fallar el proyecto?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 · Salas de Zoom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4206240" cy="475488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4" name="Circulo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7716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Equipos de 3 · 50 min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Objetivo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Dejar por escrito qué resolverán, cómo sabrán que lo lograron y qué tan buenos son sus datos.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Viene de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docs/01_problema_y_kpis.md (módulo 02).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 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Módulo 04: la limpieza ataca los problemas que encuentren hoy.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74920" y="13716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Pasos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74920" y="1965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74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715000" y="192024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Copian la plantilla y llenan docs/02_project_charter.md (objetivo, éxito, riesgos)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74920" y="273177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74920" y="27317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8605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Corren perfil_inicial.py y guardan docs/02_perfil_inicial.md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74920" y="34975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74920" y="3497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345186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Anotan 3 problemas de calidad y 3 hipótesis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74920" y="426339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074920" y="426339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21767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Comprobación de realidad: target, tamaño por grupo, data leakage</a:t>
            </a:r>
            <a:endParaRPr lang="en-US" sz="1600" dirty="0"/>
          </a:p>
        </p:txBody>
      </p:sp>
      <p:sp>
        <p:nvSpPr>
          <p:cNvPr id="21" name="Tarjeta"/>
          <p:cNvSpPr/>
          <p:nvPr/>
        </p:nvSpPr>
        <p:spPr>
          <a:xfrm>
            <a:off x="5074920" y="5074920"/>
            <a:ext cx="6537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303520" y="507492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Entregable: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charter completo + perfil inicial con problemas e hipótesis, en un PR unido a main.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llevar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81912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15087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El criterio de éxito se define antes de modelar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50592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23774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Primero: ¿qué representa una fila?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19272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325880" y="32461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Un nulo puede significar "no tiene"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87952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325880" y="4114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Volver a fases anteriores es parte del método</a:t>
            </a:r>
            <a:endParaRPr lang="en-US" sz="1900" dirty="0"/>
          </a:p>
        </p:txBody>
      </p:sp>
      <p:sp>
        <p:nvSpPr>
          <p:cNvPr id="11" name="Tarjeta"/>
          <p:cNvSpPr/>
          <p:nvPr/>
        </p:nvSpPr>
        <p:spPr>
          <a:xfrm>
            <a:off x="7955280" y="150876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accent2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229600" y="173736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04 · Preparación de datos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Traigan los problemas de calidad del perfil.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litica UdeM">
  <a:themeElements>
    <a:clrScheme name="Analitica UdeM">
      <a:dk1>
        <a:srgbClr val="1B2A2F"/>
      </a:dk1>
      <a:lt1>
        <a:srgbClr val="FFFFFF"/>
      </a:lt1>
      <a:dk2>
        <a:srgbClr val="0F3D3E"/>
      </a:dk2>
      <a:lt2>
        <a:srgbClr val="EEF4F3"/>
      </a:lt2>
      <a:accent1>
        <a:srgbClr val="E09F3E"/>
      </a:accent1>
      <a:accent2>
        <a:srgbClr val="2A9D8F"/>
      </a:accent2>
      <a:accent3>
        <a:srgbClr val="9E2A2B"/>
      </a:accent3>
      <a:accent4>
        <a:srgbClr val="5B7F95"/>
      </a:accent4>
      <a:accent5>
        <a:srgbClr val="84A98C"/>
      </a:accent5>
      <a:accent6>
        <a:srgbClr val="C8553D"/>
      </a:accent6>
      <a:hlink>
        <a:srgbClr val="2A9D8F"/>
      </a:hlink>
      <a:folHlink>
        <a:srgbClr val="5B7F95"/>
      </a:folHlink>
    </a:clrScheme>
    <a:fontScheme name="Analitica Ude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Universidad de Medellín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03: CRISP-DM</dc:title>
  <dc:subject>PptxGenJS Presentation</dc:subject>
  <dc:creator>María Camila Durango</dc:creator>
  <cp:lastModifiedBy>María Camila Durango</cp:lastModifiedBy>
  <cp:revision>1</cp:revision>
  <dcterms:created xsi:type="dcterms:W3CDTF">2026-10-17T01:04:37Z</dcterms:created>
  <dcterms:modified xsi:type="dcterms:W3CDTF">2026-10-17T01:04:37Z</dcterms:modified>
</cp:coreProperties>
</file>