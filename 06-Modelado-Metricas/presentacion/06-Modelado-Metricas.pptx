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f28df081-cc39-7dad-a070-f7265804cae6}">
          <p14:sldIdLst>
            <p14:sldId id="256"/>
            <p14:sldId id="257"/>
          </p14:sldIdLst>
        </p14:section>
        <p14:section name="Tipos de ML" id="{59563de2-f722-9263-ae52-0f42add11558}">
          <p14:sldIdLst>
            <p14:sldId id="258"/>
          </p14:sldIdLst>
        </p14:section>
        <p14:section name="Métricas de regresión" id="{3bae6eff-d3e1-86ae-cd2d-c7143d8d813b}">
          <p14:sldIdLst>
            <p14:sldId id="259"/>
          </p14:sldIdLst>
        </p14:section>
        <p14:section name="Métricas de clasificación" id="{7027b566-17cc-77d3-e514-f9ce9a78e840}">
          <p14:sldIdLst>
            <p14:sldId id="260"/>
            <p14:sldId id="261"/>
          </p14:sldIdLst>
        </p14:section>
        <p14:section name="Overfitting" id="{3091dd63-419d-d4da-dd05-8d1f242c2d73}">
          <p14:sldIdLst>
            <p14:sldId id="262"/>
          </p14:sldIdLst>
        </p14:section>
        <p14:section name="Caso House Prices" id="{cbe8c34c-b767-01c7-14b2-14853432fb5a}">
          <p14:sldIdLst>
            <p14:sldId id="263"/>
            <p14:sldId id="264"/>
            <p14:sldId id="265"/>
          </p14:sldIdLst>
        </p14:section>
        <p14:section name="Trabajo en salas" id="{5b5848f6-9f0f-c20b-dcb9-532076efcd9a}">
          <p14:sldIdLst>
            <p14:sldId id="266"/>
          </p14:sldIdLst>
        </p14:section>
        <p14:section name="Cierre" id="{35108f80-5406-4723-87d0-28771858fe9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MAPE en validación (%), menor es mejor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Baseline (mediana)</c:v>
                  </c:pt>
                  <c:pt idx="1">
                    <c:v>Árbol (depth 6)</c:v>
                  </c:pt>
                  <c:pt idx="2">
                    <c:v>Lineal (numéricas)</c:v>
                  </c:pt>
                  <c:pt idx="3">
                    <c:v>Lineal + categóricas</c:v>
                  </c:pt>
                  <c:pt idx="4">
                    <c:v>Lineal + log</c:v>
                  </c:pt>
                  <c:pt idx="5">
                    <c:v>Gradient Boosting</c:v>
                  </c:pt>
                  <c:pt idx="6">
                    <c:v>GB + log</c:v>
                  </c:pt>
                  <c:pt idx="7">
                    <c:v>Random Forest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30.6</c:v>
                </c:pt>
                <c:pt idx="1">
                  <c:v>14.8</c:v>
                </c:pt>
                <c:pt idx="2">
                  <c:v>12.5</c:v>
                </c:pt>
                <c:pt idx="3">
                  <c:v>11.3</c:v>
                </c:pt>
                <c:pt idx="4">
                  <c:v>11</c:v>
                </c:pt>
                <c:pt idx="5">
                  <c:v>11</c:v>
                </c:pt>
                <c:pt idx="6">
                  <c:v>10.2</c:v>
                </c:pt>
                <c:pt idx="7">
                  <c:v>10.3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06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y métricas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Ganarle al baseline con la métrica que le importa al negocio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 · basado en el material del prof. Oscar N. Gómez Giraldo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Tipos de ML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Supervisado y no supervisado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Métricas de regresión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MAE, RMSE, MAPE, R²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Métricas de clasificación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Matriz de confusión, umbral, ROC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Overfitting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Cuando el modelo memoriza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Caso House Prices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Baseline → 8 modelos → test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Salas de Zoom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baseline del equipo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Machine Learning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Regresión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Supervisado: predice un número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Precio, demanda, tiempo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Lineal, árboles, RF, XGBoost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32816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9" name="Circulo"/>
          <p:cNvSpPr/>
          <p:nvPr/>
        </p:nvSpPr>
        <p:spPr>
          <a:xfrm>
            <a:off x="460248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3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Clasificación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Supervisado: predice una categoría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Churn, fraude, diagnóstico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Logística, árboles, RF, KNN, SVM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810768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14" name="Circulo"/>
          <p:cNvSpPr/>
          <p:nvPr/>
        </p:nvSpPr>
        <p:spPr>
          <a:xfrm>
            <a:off x="8382000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5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supervisado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Sin etiqueta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Clustering: K-Means, DBSCAN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Reducción: PCA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regresión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Idea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Úsala cuando…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MAE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Promedio del error absoluto (USD)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Quieres un error típico fácil de explicar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RMSE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Raíz del error cuadrático (USD)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Los errores grandes son graves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MAPE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Error porcentual promedio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El negocio piensa en %; el target nunca se acerca a 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R²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Variabilidad explicada vs. el promedio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Comparar modelos sobre los mismos datos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Experimento: un solo error grande multiplica el RMSE mucho más que el MAE.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clasificación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Prioriza cuando…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¿Qué % acerté?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Clases balanceadas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Precision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De lo que marqué positivo, ¿cuánto lo era?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Las falsas alarmas cuestan (spam)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Recall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De los positivos reales, ¿cuántos encontré?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Que se escape uno es grave (cáncer, fraude)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F1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Balance precision-recall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Clases desbalanceadas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AUC-ROC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¿Qué tan bien ordena el riesgo?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Comparar sin fijar umbral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Paradoja de la accuracy: con 99 % de casos negativos, decir siempre "no" da 99 % de accuracy y 0 % de recall.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"/>
          <p:cNvSpPr/>
          <p:nvPr/>
        </p:nvSpPr>
        <p:spPr>
          <a:xfrm>
            <a:off x="822960" y="14630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7145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69748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umbral (0.5 por defecto) es una decisión de negocio, no técnica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Detección de cáncer: con umbral 0.2 se escapa 1 maligno y hay 3 falsas alarmas; con 0.5 se escapan 4.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 vs. overfitting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Underfitting: no estudió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Error alto en train y en test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Modelo demasiado simple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Solución: más complejidad o mejores variables</a:t>
            </a:r>
            <a:endParaRPr lang="en-US" sz="1800" dirty="0"/>
          </a:p>
        </p:txBody>
      </p:sp>
      <p:sp>
        <p:nvSpPr>
          <p:cNvPr id="7" name="Tarjeta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Overfitting: memorizó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Error muy bajo en train, alto en test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Modelo demasiado complejo o pocos datos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Solución: más datos, regularización (Ridge/Lasso), modelos más simples, CV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modelado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55064" y="2286000"/>
            <a:ext cx="8851392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197864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Dividir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 60 / validación 20 / test 20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3410712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Baseline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2871216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Predecir siempre la mediana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47488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Modelos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084064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Lineal → árbol → ensembles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7836408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0336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Elegir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296912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 validación y CV</a:t>
            </a:r>
            <a:endParaRPr lang="en-US" sz="1600" dirty="0"/>
          </a:p>
        </p:txBody>
      </p:sp>
      <p:sp>
        <p:nvSpPr>
          <p:cNvPr id="20" name="Circulo"/>
          <p:cNvSpPr/>
          <p:nvPr/>
        </p:nvSpPr>
        <p:spPr>
          <a:xfrm>
            <a:off x="10049256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057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73184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Test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9509760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sola vez, y se reporta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los modelos le ganan al baseline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"/>
          <p:cNvSpPr/>
          <p:nvPr/>
        </p:nvSpPr>
        <p:spPr>
          <a:xfrm>
            <a:off x="777240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Lectura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baseline se equivoca un 31 %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lineal ya baja a ~12 %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log(precio) ayuda a los modelos lineales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ensembles memorizan (brecha &gt;150 %) pero generalizan bien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Criterio de negocio (&lt; 15 %): se cumple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final en test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554480"/>
            <a:ext cx="350520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10.2 %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5468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MAPE en test (criterio: &lt; 15 %)</a:t>
            </a:r>
            <a:endParaRPr lang="en-US" sz="1500" dirty="0"/>
          </a:p>
        </p:txBody>
      </p:sp>
      <p:sp>
        <p:nvSpPr>
          <p:cNvPr id="6" name="Tarjeta"/>
          <p:cNvSpPr/>
          <p:nvPr/>
        </p:nvSpPr>
        <p:spPr>
          <a:xfrm>
            <a:off x="4328160" y="1554480"/>
            <a:ext cx="350520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11040" y="178308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56760" y="315468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casas con error ≤ 15 % (criterio: 80 %)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8107680" y="1554480"/>
            <a:ext cx="350520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90560" y="178308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36280" y="315468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MAPE del baseline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7548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Comunicar los límites: datos de 2006-2010, casas atípicas y barrios con pocas ventas.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Salas de Zoom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Equipos de 3 · 60 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Saber cuánto mejor que "no tener modelo" puede hacerlo el equipo, con la métrica que importa.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Viene 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Variables candidatas del EDA (05) y criterio de éxito del charter (03).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Módulo 07: el mejor modelo se vuelve un pipeline.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71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74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192024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Elegir la métrica principal según el error más caro para el negocio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4920" y="273177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2731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8605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Comparación rápida con baseline.py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74920" y="34975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5186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Notebook: baseline + lineal, árbol con curva de complejidad, ensemble + importancia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74920" y="426339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42633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21767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Conclusión: modelo elegido, ¿cumple el charter?, peores errores</a:t>
            </a:r>
            <a:endParaRPr lang="en-US" sz="1600" dirty="0"/>
          </a:p>
        </p:txBody>
      </p:sp>
      <p:sp>
        <p:nvSpPr>
          <p:cNvPr id="21" name="Tarjeta"/>
          <p:cNvSpPr/>
          <p:nvPr/>
        </p:nvSpPr>
        <p:spPr>
          <a:xfrm>
            <a:off x="5074920" y="5074920"/>
            <a:ext cx="6537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03520" y="5074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Entregable: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docs/05_modelado.md + notebooks/06_modelado.ipynb + métrica en test (una sola vez).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Sin baseline no sabes si el modelo aporta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La métrica la elige el costo de cada error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Validación para elegir; test para reportar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La interpretabilidad también cuenta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07 · Pipelines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Tengan claro el modelo elegido y su preprocesamiento.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06: Modelado y métricas</dc:title>
  <dc:subject>PptxGenJS Presentation</dc:subject>
  <dc:creator>María Camila Durango</dc:creator>
  <cp:lastModifiedBy>María Camila Durango</cp:lastModifiedBy>
  <cp:revision>1</cp:revision>
  <dcterms:created xsi:type="dcterms:W3CDTF">2026-10-17T01:04:37Z</dcterms:created>
  <dcterms:modified xsi:type="dcterms:W3CDTF">2026-10-17T01:04:37Z</dcterms:modified>
</cp:coreProperties>
</file>