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85c36bf4-6f12-d457-cafc-eeb3d12bff3f}">
          <p14:sldIdLst>
            <p14:sldId id="256"/>
            <p14:sldId id="257"/>
          </p14:sldIdLst>
        </p14:section>
        <p14:section name="¿Qué es una API?" id="{f279c909-ddb6-881e-b813-de03a1fd88b7}">
          <p14:sldIdLst>
            <p14:sldId id="258"/>
            <p14:sldId id="259"/>
          </p14:sldIdLst>
        </p14:section>
        <p14:section name="FastAPI + Pydantic" id="{954b03ce-befe-d8b9-f9e4-bf19ebb8584b}">
          <p14:sldIdLst>
            <p14:sldId id="260"/>
          </p14:sldIdLst>
        </p14:section>
        <p14:section name="Los endpoints" id="{6a5eccd1-f7f4-1136-74d5-7cf7e5a97f3f}">
          <p14:sldIdLst>
            <p14:sldId id="261"/>
          </p14:sldIdLst>
        </p14:section>
        <p14:section name="Códigos HTTP" id="{36bbe098-34de-6fb9-0b5a-7da9c1f34927}">
          <p14:sldIdLst>
            <p14:sldId id="262"/>
          </p14:sldIdLst>
        </p14:section>
        <p14:section name="Pruebas" id="{6dc724c5-64c6-e7ea-6e05-15a61b23f8c4}">
          <p14:sldIdLst>
            <p14:sldId id="263"/>
            <p14:sldId id="264"/>
          </p14:sldIdLst>
        </p14:section>
        <p14:section name="Trabajo en salas" id="{0e08a3d8-3738-8124-cbcc-2c14f3a7843a}">
          <p14:sldIdLst>
            <p14:sldId id="265"/>
          </p14:sldIdLst>
        </p14:section>
        <p14:section name="Cierre" id="{3f032d6d-ee2b-75f9-603c-f50dccd55569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Universidad de Medellín · Especialización en Analítica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5C3"/>
                </a:solidFill>
              </a:rPr>
              <a:t>Proyecto 1 · Introducción a la Analítica · Módulo 08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8F"/>
                </a:solidFill>
              </a:rPr>
              <a:t>Proyecto 1 · Introducción a la Analítica · Módulo 08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chemeClr val="accent1"/>
                </a:solidFill>
              </a:rPr>
              <a:t>MÓDULO 08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Despliegue del modelo con FastAPI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204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E1"/>
                </a:solidFill>
              </a:rPr>
              <a:t>Del notebook a un servicio que cualquier aplicación puede usar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120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C5C3"/>
                </a:solidFill>
              </a:rPr>
              <a:t>María Camila Durango · basado en el material del prof. Oscar N. Gómez Giraldo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052560" y="1463040"/>
            <a:ext cx="2560320" cy="25603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0574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sesión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41732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1</a:t>
            </a:r>
            <a:endParaRPr lang="en-US" sz="154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9164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¿Qué es una API?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El mesero entre la app y el modelo</a:t>
            </a:r>
            <a:endParaRPr lang="en-US" sz="1700" dirty="0"/>
          </a:p>
        </p:txBody>
      </p:sp>
      <p:sp>
        <p:nvSpPr>
          <p:cNvPr id="8" name="Tarjeta"/>
          <p:cNvSpPr/>
          <p:nvPr/>
        </p:nvSpPr>
        <p:spPr>
          <a:xfrm>
            <a:off x="4236720" y="141732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451104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110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2</a:t>
            </a:r>
            <a:endParaRPr lang="en-US" sz="1540" dirty="0"/>
          </a:p>
        </p:txBody>
      </p:sp>
      <p:sp>
        <p:nvSpPr>
          <p:cNvPr id="11" name="Text 9"/>
          <p:cNvSpPr txBox="1"/>
          <p:nvPr/>
        </p:nvSpPr>
        <p:spPr>
          <a:xfrm>
            <a:off x="5288280" y="169164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FastAPI + Pydantic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11040" y="246888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Validación automática</a:t>
            </a:r>
            <a:endParaRPr lang="en-US" sz="1700" dirty="0"/>
          </a:p>
        </p:txBody>
      </p:sp>
      <p:sp>
        <p:nvSpPr>
          <p:cNvPr id="13" name="Tarjeta"/>
          <p:cNvSpPr/>
          <p:nvPr/>
        </p:nvSpPr>
        <p:spPr>
          <a:xfrm>
            <a:off x="7924800" y="141732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819912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991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3</a:t>
            </a:r>
            <a:endParaRPr lang="en-US" sz="1540" dirty="0"/>
          </a:p>
        </p:txBody>
      </p:sp>
      <p:sp>
        <p:nvSpPr>
          <p:cNvPr id="16" name="Text 14"/>
          <p:cNvSpPr txBox="1"/>
          <p:nvPr/>
        </p:nvSpPr>
        <p:spPr>
          <a:xfrm>
            <a:off x="8976360" y="169164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Los endpoints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199120" y="246888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/health, /model-info, /predict</a:t>
            </a:r>
            <a:endParaRPr lang="en-US" sz="1700" dirty="0"/>
          </a:p>
        </p:txBody>
      </p:sp>
      <p:sp>
        <p:nvSpPr>
          <p:cNvPr id="18" name="Tarjeta"/>
          <p:cNvSpPr/>
          <p:nvPr/>
        </p:nvSpPr>
        <p:spPr>
          <a:xfrm>
            <a:off x="548640" y="384048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4</a:t>
            </a:r>
            <a:endParaRPr lang="en-US" sz="154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11480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Códigos HTTP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89204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200, 422, 413, 503</a:t>
            </a:r>
            <a:endParaRPr lang="en-US" sz="1700" dirty="0"/>
          </a:p>
        </p:txBody>
      </p:sp>
      <p:sp>
        <p:nvSpPr>
          <p:cNvPr id="23" name="Tarjeta"/>
          <p:cNvSpPr/>
          <p:nvPr/>
        </p:nvSpPr>
        <p:spPr>
          <a:xfrm>
            <a:off x="4236720" y="384048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Shape 22"/>
          <p:cNvSpPr/>
          <p:nvPr/>
        </p:nvSpPr>
        <p:spPr>
          <a:xfrm>
            <a:off x="451104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1104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5</a:t>
            </a:r>
            <a:endParaRPr lang="en-US" sz="1540" dirty="0"/>
          </a:p>
        </p:txBody>
      </p:sp>
      <p:sp>
        <p:nvSpPr>
          <p:cNvPr id="26" name="Text 24"/>
          <p:cNvSpPr txBox="1"/>
          <p:nvPr/>
        </p:nvSpPr>
        <p:spPr>
          <a:xfrm>
            <a:off x="5288280" y="411480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Pruebas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511040" y="489204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pytest y TestClient</a:t>
            </a:r>
            <a:endParaRPr lang="en-US" sz="1700" dirty="0"/>
          </a:p>
        </p:txBody>
      </p:sp>
      <p:sp>
        <p:nvSpPr>
          <p:cNvPr id="28" name="Tarjeta"/>
          <p:cNvSpPr/>
          <p:nvPr/>
        </p:nvSpPr>
        <p:spPr>
          <a:xfrm>
            <a:off x="7924800" y="384048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Shape 27"/>
          <p:cNvSpPr/>
          <p:nvPr/>
        </p:nvSpPr>
        <p:spPr>
          <a:xfrm>
            <a:off x="819912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19912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6</a:t>
            </a:r>
            <a:endParaRPr lang="en-US" sz="1540" dirty="0"/>
          </a:p>
        </p:txBody>
      </p:sp>
      <p:sp>
        <p:nvSpPr>
          <p:cNvPr id="31" name="Text 29"/>
          <p:cNvSpPr txBox="1"/>
          <p:nvPr/>
        </p:nvSpPr>
        <p:spPr>
          <a:xfrm>
            <a:off x="8976360" y="411480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Salas de Zoom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199120" y="489204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La API del equipo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API es el mesero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931670" y="2286000"/>
            <a:ext cx="8298180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4" name="Circulo"/>
          <p:cNvSpPr/>
          <p:nvPr/>
        </p:nvSpPr>
        <p:spPr>
          <a:xfrm>
            <a:off x="147447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3070" y="2057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2926080"/>
            <a:ext cx="26197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Cliente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611880"/>
            <a:ext cx="25466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App web, móvil o Excel envía JSON</a:t>
            </a:r>
            <a:endParaRPr lang="en-US" sz="1600" dirty="0"/>
          </a:p>
        </p:txBody>
      </p:sp>
      <p:sp>
        <p:nvSpPr>
          <p:cNvPr id="8" name="Circulo"/>
          <p:cNvSpPr/>
          <p:nvPr/>
        </p:nvSpPr>
        <p:spPr>
          <a:xfrm>
            <a:off x="424053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130" y="20574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387852" y="2926080"/>
            <a:ext cx="26197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Validación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3424428" y="3611880"/>
            <a:ext cx="25466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Pydantic revisa tipos y reglas</a:t>
            </a:r>
            <a:endParaRPr lang="en-US" sz="1600" dirty="0"/>
          </a:p>
        </p:txBody>
      </p:sp>
      <p:sp>
        <p:nvSpPr>
          <p:cNvPr id="12" name="Circulo"/>
          <p:cNvSpPr/>
          <p:nvPr/>
        </p:nvSpPr>
        <p:spPr>
          <a:xfrm>
            <a:off x="700659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190" y="20574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153912" y="2926080"/>
            <a:ext cx="26197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Pipeline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6190488" y="3611880"/>
            <a:ext cx="25466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 .joblib del módulo 07 predice</a:t>
            </a:r>
            <a:endParaRPr lang="en-US" sz="1600" dirty="0"/>
          </a:p>
        </p:txBody>
      </p:sp>
      <p:sp>
        <p:nvSpPr>
          <p:cNvPr id="16" name="Circulo"/>
          <p:cNvSpPr/>
          <p:nvPr/>
        </p:nvSpPr>
        <p:spPr>
          <a:xfrm>
            <a:off x="977265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0" y="205740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919972" y="2926080"/>
            <a:ext cx="26197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Respuesta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8956548" y="3611880"/>
            <a:ext cx="25466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JSON con el precio y el código HTTP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Tiempo real vs. por lotes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417320"/>
            <a:ext cx="539496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394960" cy="777240"/>
          </a:xfrm>
          <a:prstGeom prst="roundRect">
            <a:avLst>
              <a:gd name="adj" fmla="val 14118"/>
            </a:avLst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Tiempo real (API) · hoy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Responde en milisegundos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Un usuario pide un avalúo en la web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Consume recursos todo el tiempo</a:t>
            </a:r>
            <a:endParaRPr lang="en-US" sz="1800" dirty="0"/>
          </a:p>
        </p:txBody>
      </p:sp>
      <p:sp>
        <p:nvSpPr>
          <p:cNvPr id="7" name="Tarjeta"/>
          <p:cNvSpPr/>
          <p:nvPr/>
        </p:nvSpPr>
        <p:spPr>
          <a:xfrm>
            <a:off x="6217920" y="1417320"/>
            <a:ext cx="539496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1417320"/>
            <a:ext cx="53949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14173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Por lotes (batch)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468880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Procesa miles de registros a la vez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Revaluar el portafolio cada mes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predecir.py del módulo 07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contrato: schemas.py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766560" cy="4663440"/>
          </a:xfrm>
          <a:prstGeom prst="roundRect">
            <a:avLst>
              <a:gd name="adj" fmla="val 1961"/>
            </a:avLst>
          </a:prstGeom>
          <a:solidFill>
            <a:srgbClr val="1E2B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309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CasaEntrada(BaseModel):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GrLivArea: int = Field(gt=0)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OverallQual: int = Field(ge=1, le=10)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KitchenQual: Literal["Po","Fa","TA","Gd","Ex"]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@app.post("/predict")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predict(casa: CasaEntrada):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precio = servicio.predecir([casa])[0]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PrediccionSalida(precio_estimado=precio, ...)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635240" y="14173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Paso a paso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635240" y="1965960"/>
            <a:ext cx="3977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Las reglas de negocio viven en el esquema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Si llega calidad 15 → 422, el modelo ni se entera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La documentación /docs se genera sola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El pipeline hace todo el preprocesamiento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endpoints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  <a:gridCol w="63093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Método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Para qué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F"/>
                          </a:solidFill>
                        </a:rPr>
                        <a:t>GET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/health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¿Está viva la API? ¿Cargó el modelo?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F"/>
                          </a:solidFill>
                        </a:rPr>
                        <a:t>GET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/model-info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Versión, fecha, variables y métricas del modelo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F"/>
                          </a:solidFill>
                        </a:rPr>
                        <a:t>POST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/predict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Precio de una casa + rango aproximado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F"/>
                          </a:solidFill>
                        </a:rPr>
                        <a:t>POST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/predict/batch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Precios de hasta 100 casas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F"/>
                          </a:solidFill>
                        </a:rPr>
                        <a:t>GET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/docs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Documentación interactiva (Swagger)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Códigos de estado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63093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Código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Significa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Cuándo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F"/>
                          </a:solidFill>
                        </a:rPr>
                        <a:t>200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OK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Predicción exitosa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F"/>
                          </a:solidFill>
                        </a:rPr>
                        <a:t>422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Datos inválidos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Falta un campo, tipo incorrecto, valor fuera de rango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F"/>
                          </a:solidFill>
                        </a:rPr>
                        <a:t>413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Solicitud muy grande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Más de MAX_BATCH casas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2F"/>
                          </a:solidFill>
                        </a:rPr>
                        <a:t>503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Servicio no disponible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B2A2F"/>
                          </a:solidFill>
                        </a:rPr>
                        <a:t>El modelo no está cargado</a:t>
                      </a:r>
                      <a:endParaRPr lang="en-US" sz="17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Mejora frente al ejemplo original: los errores ya no responden 200 con un mensaje, sino el código correcto.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Levantar, probar y consumir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766560" cy="4663440"/>
          </a:xfrm>
          <a:prstGeom prst="roundRect">
            <a:avLst>
              <a:gd name="adj" fmla="val 1961"/>
            </a:avLst>
          </a:prstGeom>
          <a:solidFill>
            <a:srgbClr val="1E2B2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309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Servidor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uvicorn api.main:app --reload --app-dir 08-API-FastAPI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http://127.0.0.1:8000/docs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Pruebas automáticas (14)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pytest -v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Desde la terminal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 POST http://127.0.0.1:8000/predict \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-H "Content-Type: application/json" \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8F1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 @08-API-FastAPI/ejemplos/casa.json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635240" y="14173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Paso a paso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635240" y="1965960"/>
            <a:ext cx="3977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TestClient simula HTTP sin servidor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Pruebas de validación (422)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Pruebas de sentido común: más calidad → más precio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chemeClr val="tx1"/>
                </a:solidFill>
              </a:rPr>
              <a:t>Barrio desconocido: no falla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mejoramos del ejemplo del profesor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657600"/>
                <a:gridCol w="4114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Ejemplo original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Este módulo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Por qué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F"/>
                          </a:solidFill>
                        </a:rPr>
                        <a:t>2 variables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14 variables + pipeline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Conecta con todo el curso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F"/>
                          </a:solidFill>
                        </a:rPr>
                        <a:t>Errores con estado 200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HTTPException 422/503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Los clientes leen el código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F"/>
                          </a:solidFill>
                        </a:rPr>
                        <a:t>if dentro del endpoint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Reglas en Pydantic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Validación declarativa y documentada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F"/>
                          </a:solidFill>
                        </a:rPr>
                        <a:t>pickle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joblib + metadatos .json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Trazabilidad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2F"/>
                          </a:solidFill>
                        </a:rPr>
                        <a:t>Sin pruebas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14 pruebas con pytest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2F"/>
                          </a:solidFill>
                        </a:rPr>
                        <a:t>Confianza para cambiar el código</a:t>
                      </a:r>
                      <a:endParaRPr lang="en-US" sz="15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2 · Salas de Zoom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371600"/>
            <a:ext cx="4206240" cy="475488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/>
        </p:spPr>
      </p:sp>
      <p:sp>
        <p:nvSpPr>
          <p:cNvPr id="4" name="Circulo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77165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Equipos de 3 · 70 min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3657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Objetivo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Servir el modelo del equipo con una API que valide los datos y tenga pruebas.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Viene de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models/modelo.joblib de src/train.py (módulo 07).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Va 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Módulo 09: la demo es parte de la presentación final.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074920" y="137160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Pasos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074920" y="19659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0749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715000" y="1920240"/>
            <a:ext cx="58978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Copiar api/ y tests/ del curso y agregar fastapi y uvicorn con uv add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74920" y="273177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74920" y="27317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686050"/>
            <a:ext cx="58978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A: schemas.py con sus variables y reglas · B: config.py y modelo.py · C: pruebas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074920" y="34975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074920" y="3497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15000" y="3451860"/>
            <a:ext cx="58978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uv run pytest y una predicción por integrante desde /docs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074920" y="426339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074920" y="426339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4217670"/>
            <a:ext cx="58978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README: sección "API" con ejemplo y códigos de error</a:t>
            </a:r>
            <a:endParaRPr lang="en-US" sz="1600" dirty="0"/>
          </a:p>
        </p:txBody>
      </p:sp>
      <p:sp>
        <p:nvSpPr>
          <p:cNvPr id="21" name="Tarjeta"/>
          <p:cNvSpPr/>
          <p:nvPr/>
        </p:nvSpPr>
        <p:spPr>
          <a:xfrm>
            <a:off x="5074920" y="5074920"/>
            <a:ext cx="6537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303520" y="507492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Entregable: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API con /health y /predict, 3 reglas de negocio, 4 pruebas en verde y README actualizado.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llevar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81912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150876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La API es la puerta de entrada al modelo</a:t>
            </a:r>
            <a:endParaRPr lang="en-US" sz="1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50592"/>
            <a:ext cx="411480" cy="411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25880" y="23774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Pydantic protege al modelo de datos absurdos</a:t>
            </a:r>
            <a:endParaRPr lang="en-US" sz="1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19272"/>
            <a:ext cx="411480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325880" y="324612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Códigos HTTP correctos = clientes felices</a:t>
            </a:r>
            <a:endParaRPr lang="en-US" sz="19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87952"/>
            <a:ext cx="411480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325880" y="41148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Sin pruebas no hay confianza para cambiar</a:t>
            </a:r>
            <a:endParaRPr lang="en-US" sz="1900" dirty="0"/>
          </a:p>
        </p:txBody>
      </p:sp>
      <p:sp>
        <p:nvSpPr>
          <p:cNvPr id="11" name="Tarjeta"/>
          <p:cNvSpPr/>
          <p:nvPr/>
        </p:nvSpPr>
        <p:spPr>
          <a:xfrm>
            <a:off x="7955280" y="150876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accent2"/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8229600" y="173736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09 · Proyecto final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Revisen la rúbrica y el checklist de entrega.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alitica UdeM">
  <a:themeElements>
    <a:clrScheme name="Analitica UdeM">
      <a:dk1>
        <a:srgbClr val="1B2A2F"/>
      </a:dk1>
      <a:lt1>
        <a:srgbClr val="FFFFFF"/>
      </a:lt1>
      <a:dk2>
        <a:srgbClr val="0F3D3E"/>
      </a:dk2>
      <a:lt2>
        <a:srgbClr val="EEF4F3"/>
      </a:lt2>
      <a:accent1>
        <a:srgbClr val="E09F3E"/>
      </a:accent1>
      <a:accent2>
        <a:srgbClr val="2A9D8F"/>
      </a:accent2>
      <a:accent3>
        <a:srgbClr val="9E2A2B"/>
      </a:accent3>
      <a:accent4>
        <a:srgbClr val="5B7F95"/>
      </a:accent4>
      <a:accent5>
        <a:srgbClr val="84A98C"/>
      </a:accent5>
      <a:accent6>
        <a:srgbClr val="C8553D"/>
      </a:accent6>
      <a:hlink>
        <a:srgbClr val="2A9D8F"/>
      </a:hlink>
      <a:folHlink>
        <a:srgbClr val="5B7F95"/>
      </a:folHlink>
    </a:clrScheme>
    <a:fontScheme name="Analitica Ude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Universidad de Medellín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08: API con FastAPI</dc:title>
  <dc:subject>PptxGenJS Presentation</dc:subject>
  <dc:creator>María Camila Durango</dc:creator>
  <cp:lastModifiedBy>María Camila Durango</cp:lastModifiedBy>
  <cp:revision>1</cp:revision>
  <dcterms:created xsi:type="dcterms:W3CDTF">2026-10-17T01:04:37Z</dcterms:created>
  <dcterms:modified xsi:type="dcterms:W3CDTF">2026-10-17T01:04:37Z</dcterms:modified>
</cp:coreProperties>
</file>