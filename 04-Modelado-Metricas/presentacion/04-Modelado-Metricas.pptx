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34682d43-338a-0d68-28ec-a14533e4716a}">
          <p14:sldIdLst>
            <p14:sldId id="256"/>
            <p14:sldId id="257"/>
          </p14:sldIdLst>
        </p14:section>
        <p14:section name="Tipos de ML" id="{bd4080e9-1f3d-f6fc-bdf0-88743e1ff739}">
          <p14:sldIdLst>
            <p14:sldId id="258"/>
          </p14:sldIdLst>
        </p14:section>
        <p14:section name="Métricas de regresión" id="{3f3e4bdc-6f35-074a-a0bf-19d7beb00a22}">
          <p14:sldIdLst>
            <p14:sldId id="259"/>
          </p14:sldIdLst>
        </p14:section>
        <p14:section name="Métricas de clasificación" id="{18678b53-4f39-c625-32dd-0872758eb38a}">
          <p14:sldIdLst>
            <p14:sldId id="260"/>
            <p14:sldId id="261"/>
          </p14:sldIdLst>
        </p14:section>
        <p14:section name="Overfitting" id="{8ad83b8b-0d33-710c-1efd-307ffd964df9}">
          <p14:sldIdLst>
            <p14:sldId id="262"/>
          </p14:sldIdLst>
        </p14:section>
        <p14:section name="Caso House Prices" id="{504f5b53-ea08-4307-138a-1e574cfaa70f}">
          <p14:sldIdLst>
            <p14:sldId id="263"/>
            <p14:sldId id="264"/>
            <p14:sldId id="265"/>
          </p14:sldIdLst>
        </p14:section>
        <p14:section name="Salas de Zoom" id="{b4d01925-22e9-9fe3-28e0-26813bd39ff4}">
          <p14:sldIdLst>
            <p14:sldId id="266"/>
          </p14:sldIdLst>
        </p14:section>
        <p14:section name="Trabajo en salas" id="{9eb2dde3-67c1-8164-ca91-5f3ee6d8a920}">
          <p14:sldIdLst>
            <p14:sldId id="267"/>
          </p14:sldIdLst>
        </p14:section>
        <p14:section name="Cierre" id="{6246cfd7-8133-eff1-bf2e-a2cb563e304e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3D3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3D3E"/>
                </a:solidFill>
                <a:latin typeface="+mn-lt"/>
              </a:rPr>
              <a:t>MAPE en validación (%), menor es mejor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</c:v>
                </c:pt>
              </c:strCache>
            </c:strRef>
          </c:tx>
          <c:spPr>
            <a:solidFill>
              <a:srgbClr val="C8553D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553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E09F3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A9D8F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Baseline (mediana)</c:v>
                  </c:pt>
                  <c:pt idx="1">
                    <c:v>Árbol (depth 6)</c:v>
                  </c:pt>
                  <c:pt idx="2">
                    <c:v>Lineal (numéricas)</c:v>
                  </c:pt>
                  <c:pt idx="3">
                    <c:v>Lineal + categóricas</c:v>
                  </c:pt>
                  <c:pt idx="4">
                    <c:v>Lineal + log</c:v>
                  </c:pt>
                  <c:pt idx="5">
                    <c:v>Gradient Boosting</c:v>
                  </c:pt>
                  <c:pt idx="6">
                    <c:v>GB + log</c:v>
                  </c:pt>
                  <c:pt idx="7">
                    <c:v>Random Forest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30.6</c:v>
                </c:pt>
                <c:pt idx="1">
                  <c:v>14.8</c:v>
                </c:pt>
                <c:pt idx="2">
                  <c:v>12.5</c:v>
                </c:pt>
                <c:pt idx="3">
                  <c:v>11.3</c:v>
                </c:pt>
                <c:pt idx="4">
                  <c:v>11</c:v>
                </c:pt>
                <c:pt idx="5">
                  <c:v>11</c:v>
                </c:pt>
                <c:pt idx="6">
                  <c:v>10.2</c:v>
                </c:pt>
                <c:pt idx="7">
                  <c:v>10.3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A5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1E8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A5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Universidad de Medellín · Especialización en Analítica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263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C5C3"/>
                </a:solidFill>
              </a:rPr>
              <a:t>Proyecto 1 · Introducción a la Analítica · Módulo 04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8F"/>
                </a:solidFill>
              </a:rPr>
              <a:t>Proyecto 1 · Introducción a la Analítica · Módulo 04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1887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chemeClr val="accent1"/>
                </a:solidFill>
              </a:rPr>
              <a:t>MÓDULO 04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373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Modelado y métricas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52044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FE3E1"/>
                </a:solidFill>
              </a:rPr>
              <a:t>Ganarle al baseline con la métrica que le importa al negocio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120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9C5C3"/>
                </a:solidFill>
              </a:rPr>
              <a:t>María Camila Durango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052560" y="1463040"/>
            <a:ext cx="2560320" cy="256032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20574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la sesión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1</a:t>
            </a:r>
            <a:endParaRPr lang="en-US" sz="154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Tipos de ML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Supervisado y no supervisado</a:t>
            </a:r>
            <a:endParaRPr lang="en-US" sz="1700" dirty="0"/>
          </a:p>
        </p:txBody>
      </p:sp>
      <p:sp>
        <p:nvSpPr>
          <p:cNvPr id="8" name="Tarjeta"/>
          <p:cNvSpPr/>
          <p:nvPr/>
        </p:nvSpPr>
        <p:spPr>
          <a:xfrm>
            <a:off x="423672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Shape 7"/>
          <p:cNvSpPr/>
          <p:nvPr/>
        </p:nvSpPr>
        <p:spPr>
          <a:xfrm>
            <a:off x="451104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1104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2</a:t>
            </a:r>
            <a:endParaRPr lang="en-US" sz="1540" dirty="0"/>
          </a:p>
        </p:txBody>
      </p:sp>
      <p:sp>
        <p:nvSpPr>
          <p:cNvPr id="11" name="Text 9"/>
          <p:cNvSpPr txBox="1"/>
          <p:nvPr/>
        </p:nvSpPr>
        <p:spPr>
          <a:xfrm>
            <a:off x="528828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Métricas de regresión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51104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MAE, RMSE, MAPE, R²</a:t>
            </a:r>
            <a:endParaRPr lang="en-US" sz="1700" dirty="0"/>
          </a:p>
        </p:txBody>
      </p:sp>
      <p:sp>
        <p:nvSpPr>
          <p:cNvPr id="13" name="Tarjeta"/>
          <p:cNvSpPr/>
          <p:nvPr/>
        </p:nvSpPr>
        <p:spPr>
          <a:xfrm>
            <a:off x="7924800" y="141732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8199120" y="16916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19912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3</a:t>
            </a:r>
            <a:endParaRPr lang="en-US" sz="1540" dirty="0"/>
          </a:p>
        </p:txBody>
      </p:sp>
      <p:sp>
        <p:nvSpPr>
          <p:cNvPr id="16" name="Text 14"/>
          <p:cNvSpPr txBox="1"/>
          <p:nvPr/>
        </p:nvSpPr>
        <p:spPr>
          <a:xfrm>
            <a:off x="8976360" y="169164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Métricas de clasificación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199120" y="246888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Matriz de confusión, umbral, ROC</a:t>
            </a:r>
            <a:endParaRPr lang="en-US" sz="1700" dirty="0"/>
          </a:p>
        </p:txBody>
      </p:sp>
      <p:sp>
        <p:nvSpPr>
          <p:cNvPr id="18" name="Tarjeta"/>
          <p:cNvSpPr/>
          <p:nvPr/>
        </p:nvSpPr>
        <p:spPr>
          <a:xfrm>
            <a:off x="54864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4</a:t>
            </a:r>
            <a:endParaRPr lang="en-US" sz="154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Overfitting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Cuando el modelo memoriza</a:t>
            </a:r>
            <a:endParaRPr lang="en-US" sz="1700" dirty="0"/>
          </a:p>
        </p:txBody>
      </p:sp>
      <p:sp>
        <p:nvSpPr>
          <p:cNvPr id="23" name="Tarjeta"/>
          <p:cNvSpPr/>
          <p:nvPr/>
        </p:nvSpPr>
        <p:spPr>
          <a:xfrm>
            <a:off x="423672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4" name="Shape 22"/>
          <p:cNvSpPr/>
          <p:nvPr/>
        </p:nvSpPr>
        <p:spPr>
          <a:xfrm>
            <a:off x="451104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1104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5</a:t>
            </a:r>
            <a:endParaRPr lang="en-US" sz="1540" dirty="0"/>
          </a:p>
        </p:txBody>
      </p:sp>
      <p:sp>
        <p:nvSpPr>
          <p:cNvPr id="26" name="Text 24"/>
          <p:cNvSpPr txBox="1"/>
          <p:nvPr/>
        </p:nvSpPr>
        <p:spPr>
          <a:xfrm>
            <a:off x="528828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Caso House Prices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451104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Baseline → 8 modelos → test</a:t>
            </a:r>
            <a:endParaRPr lang="en-US" sz="1700" dirty="0"/>
          </a:p>
        </p:txBody>
      </p:sp>
      <p:sp>
        <p:nvSpPr>
          <p:cNvPr id="28" name="Tarjeta"/>
          <p:cNvSpPr/>
          <p:nvPr/>
        </p:nvSpPr>
        <p:spPr>
          <a:xfrm>
            <a:off x="7924800" y="3840480"/>
            <a:ext cx="3413760" cy="219456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9" name="Shape 27"/>
          <p:cNvSpPr/>
          <p:nvPr/>
        </p:nvSpPr>
        <p:spPr>
          <a:xfrm>
            <a:off x="8199120" y="4114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199120" y="4114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40" b="1" dirty="0">
                <a:solidFill>
                  <a:schemeClr val="bg1"/>
                </a:solidFill>
              </a:rPr>
              <a:t>6</a:t>
            </a:r>
            <a:endParaRPr lang="en-US" sz="1540" dirty="0"/>
          </a:p>
        </p:txBody>
      </p:sp>
      <p:sp>
        <p:nvSpPr>
          <p:cNvPr id="31" name="Text 29"/>
          <p:cNvSpPr txBox="1"/>
          <p:nvPr/>
        </p:nvSpPr>
        <p:spPr>
          <a:xfrm>
            <a:off x="8976360" y="4114800"/>
            <a:ext cx="2179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Salas de Zoom</a:t>
            </a:r>
            <a:endParaRPr lang="en-US" sz="2000" dirty="0"/>
          </a:p>
        </p:txBody>
      </p:sp>
      <p:sp>
        <p:nvSpPr>
          <p:cNvPr id="32" name="Text 30"/>
          <p:cNvSpPr txBox="1"/>
          <p:nvPr/>
        </p:nvSpPr>
        <p:spPr>
          <a:xfrm>
            <a:off x="8199120" y="4892040"/>
            <a:ext cx="286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El modelo del equipo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Tipos de Machine Learning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417320"/>
            <a:ext cx="3505200" cy="466344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/>
        </p:spPr>
      </p:sp>
      <p:sp>
        <p:nvSpPr>
          <p:cNvPr id="4" name="Circulo"/>
          <p:cNvSpPr/>
          <p:nvPr/>
        </p:nvSpPr>
        <p:spPr>
          <a:xfrm>
            <a:off x="822960" y="1691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86309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1460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Regresión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154680"/>
            <a:ext cx="2956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Supervisado: predice un número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Precio, demanda, tiempo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Lineal, árboles, RF, XGBoost</a:t>
            </a:r>
            <a:endParaRPr lang="en-US" sz="1700" dirty="0"/>
          </a:p>
        </p:txBody>
      </p:sp>
      <p:sp>
        <p:nvSpPr>
          <p:cNvPr id="8" name="Tarjeta"/>
          <p:cNvSpPr/>
          <p:nvPr/>
        </p:nvSpPr>
        <p:spPr>
          <a:xfrm>
            <a:off x="4328160" y="1417320"/>
            <a:ext cx="3505200" cy="466344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/>
        </p:spPr>
      </p:sp>
      <p:sp>
        <p:nvSpPr>
          <p:cNvPr id="9" name="Circulo"/>
          <p:cNvSpPr/>
          <p:nvPr/>
        </p:nvSpPr>
        <p:spPr>
          <a:xfrm>
            <a:off x="4602480" y="1691640"/>
            <a:ext cx="685800" cy="6858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930" y="1863090"/>
            <a:ext cx="342900" cy="3429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02480" y="251460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Clasificación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602480" y="3154680"/>
            <a:ext cx="2956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Supervisado: predice una categoría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Churn, fraude, diagnóstico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Logística, árboles, RF, KNN, SVM</a:t>
            </a:r>
            <a:endParaRPr lang="en-US" sz="1700" dirty="0"/>
          </a:p>
        </p:txBody>
      </p:sp>
      <p:sp>
        <p:nvSpPr>
          <p:cNvPr id="13" name="Tarjeta"/>
          <p:cNvSpPr/>
          <p:nvPr/>
        </p:nvSpPr>
        <p:spPr>
          <a:xfrm>
            <a:off x="8107680" y="1417320"/>
            <a:ext cx="3505200" cy="4663440"/>
          </a:xfrm>
          <a:prstGeom prst="roundRect">
            <a:avLst>
              <a:gd name="adj" fmla="val 3130"/>
            </a:avLst>
          </a:prstGeom>
          <a:solidFill>
            <a:schemeClr val="bg2"/>
          </a:solidFill>
          <a:ln/>
        </p:spPr>
      </p:sp>
      <p:sp>
        <p:nvSpPr>
          <p:cNvPr id="14" name="Circulo"/>
          <p:cNvSpPr/>
          <p:nvPr/>
        </p:nvSpPr>
        <p:spPr>
          <a:xfrm>
            <a:off x="8382000" y="1691640"/>
            <a:ext cx="685800" cy="6858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450" y="1863090"/>
            <a:ext cx="342900" cy="3429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82000" y="2514600"/>
            <a:ext cx="295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No supervisado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382000" y="3154680"/>
            <a:ext cx="29565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Sin etiqueta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Clustering: K-Means, DBSCAN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Reducción: PCA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de regresión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931920"/>
                <a:gridCol w="54864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Métrica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Idea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Úsala cuando…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MAE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Promedio del error absoluto (USD)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Quieres un error típico fácil de explicar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RMSE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Raíz del error cuadrático (USD)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Los errores grandes son graves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MAPE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Error porcentual promedio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El negocio piensa en %; el target nunca se acerca a 0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R²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Variabilidad explicada vs. el promedio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Comparar modelos sobre los mismos datos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Experimento: un solo error grande multiplica el RMSE mucho más que el MAE.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de clasificación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46634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Métrica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Pregunta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Prioriza cuando…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Accuracy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¿Qué % acerté?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Clases balanceadas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Precision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De lo que marqué positivo, ¿cuánto lo era?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Las falsas alarmas cuestan (spam)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Recall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De los positivos reales, ¿cuántos encontré?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Que se escape uno es grave (cáncer, fraude)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F1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Balance precision-recall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Clases desbalanceadas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AUC-ROC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¿Qué tan bien ordena el riesgo?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Comparar sin fijar umbral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Paradoja de la accuracy: con 99 % de casos negativos, decir siempre "no" da 99 % de accuracy y 0 % de recall.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irculo"/>
          <p:cNvSpPr/>
          <p:nvPr/>
        </p:nvSpPr>
        <p:spPr>
          <a:xfrm>
            <a:off x="822960" y="1463040"/>
            <a:ext cx="1005840" cy="10058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17145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69748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umbral (0.5 por defecto) es una decisión de negocio, no técnica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48006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3E1"/>
                </a:solidFill>
              </a:rPr>
              <a:t>Detección de cáncer: con umbral 0.2 se escapa 1 maligno y hay 3 falsas alarmas; con 0.5 se escapan 4.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Underfitting vs. overfitting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417320"/>
            <a:ext cx="539496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394960" cy="777240"/>
          </a:xfrm>
          <a:prstGeom prst="roundRect">
            <a:avLst>
              <a:gd name="adj" fmla="val 14118"/>
            </a:avLst>
          </a:prstGeom>
          <a:solidFill>
            <a:schemeClr val="accent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4173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Underfitting: no estudió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46888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Error alto en train y en test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Modelo demasiado simple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Solución: más complejidad o mejores variables</a:t>
            </a:r>
            <a:endParaRPr lang="en-US" sz="1800" dirty="0"/>
          </a:p>
        </p:txBody>
      </p:sp>
      <p:sp>
        <p:nvSpPr>
          <p:cNvPr id="7" name="Tarjeta"/>
          <p:cNvSpPr/>
          <p:nvPr/>
        </p:nvSpPr>
        <p:spPr>
          <a:xfrm>
            <a:off x="6217920" y="1417320"/>
            <a:ext cx="5394960" cy="4663440"/>
          </a:xfrm>
          <a:prstGeom prst="roundRect">
            <a:avLst>
              <a:gd name="adj" fmla="val 2353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1417320"/>
            <a:ext cx="5394960" cy="777240"/>
          </a:xfrm>
          <a:prstGeom prst="roundRect">
            <a:avLst>
              <a:gd name="adj" fmla="val 14118"/>
            </a:avLst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14173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Overfitting: memorizó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468880"/>
            <a:ext cx="484632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Error muy bajo en train, alto en test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Modelo demasiado complejo o pocos datos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Solución: más datos, regularización (Ridge/Lasso), modelos más simples, CV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flujo de modelado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655064" y="2286000"/>
            <a:ext cx="8851392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4" name="Circulo"/>
          <p:cNvSpPr/>
          <p:nvPr/>
        </p:nvSpPr>
        <p:spPr>
          <a:xfrm>
            <a:off x="1197864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6464" y="20574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1792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Dividir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Train 60 / validación 20 / test 20</a:t>
            </a:r>
            <a:endParaRPr lang="en-US" sz="1600" dirty="0"/>
          </a:p>
        </p:txBody>
      </p:sp>
      <p:sp>
        <p:nvSpPr>
          <p:cNvPr id="8" name="Circulo"/>
          <p:cNvSpPr/>
          <p:nvPr/>
        </p:nvSpPr>
        <p:spPr>
          <a:xfrm>
            <a:off x="3410712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205740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34640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Baseline</a:t>
            </a:r>
            <a:endParaRPr lang="en-US" sz="1900" dirty="0"/>
          </a:p>
        </p:txBody>
      </p:sp>
      <p:sp>
        <p:nvSpPr>
          <p:cNvPr id="11" name="Text 7"/>
          <p:cNvSpPr txBox="1"/>
          <p:nvPr/>
        </p:nvSpPr>
        <p:spPr>
          <a:xfrm>
            <a:off x="2871216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Predecir siempre la mediana</a:t>
            </a:r>
            <a:endParaRPr lang="en-US" sz="1600" dirty="0"/>
          </a:p>
        </p:txBody>
      </p:sp>
      <p:sp>
        <p:nvSpPr>
          <p:cNvPr id="12" name="Circulo"/>
          <p:cNvSpPr/>
          <p:nvPr/>
        </p:nvSpPr>
        <p:spPr>
          <a:xfrm>
            <a:off x="5623560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05740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047488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Modelos</a:t>
            </a:r>
            <a:endParaRPr lang="en-US" sz="1900" dirty="0"/>
          </a:p>
        </p:txBody>
      </p:sp>
      <p:sp>
        <p:nvSpPr>
          <p:cNvPr id="15" name="Text 10"/>
          <p:cNvSpPr txBox="1"/>
          <p:nvPr/>
        </p:nvSpPr>
        <p:spPr>
          <a:xfrm>
            <a:off x="5084064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Lineal → árbol → ensembles</a:t>
            </a:r>
            <a:endParaRPr lang="en-US" sz="1600" dirty="0"/>
          </a:p>
        </p:txBody>
      </p:sp>
      <p:sp>
        <p:nvSpPr>
          <p:cNvPr id="16" name="Circulo"/>
          <p:cNvSpPr/>
          <p:nvPr/>
        </p:nvSpPr>
        <p:spPr>
          <a:xfrm>
            <a:off x="7836408" y="1828800"/>
            <a:ext cx="914400" cy="914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08" y="205740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260336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Elegir</a:t>
            </a:r>
            <a:endParaRPr lang="en-US" sz="1900" dirty="0"/>
          </a:p>
        </p:txBody>
      </p:sp>
      <p:sp>
        <p:nvSpPr>
          <p:cNvPr id="19" name="Text 13"/>
          <p:cNvSpPr txBox="1"/>
          <p:nvPr/>
        </p:nvSpPr>
        <p:spPr>
          <a:xfrm>
            <a:off x="7296912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 validación y CV</a:t>
            </a:r>
            <a:endParaRPr lang="en-US" sz="1600" dirty="0"/>
          </a:p>
        </p:txBody>
      </p:sp>
      <p:sp>
        <p:nvSpPr>
          <p:cNvPr id="20" name="Circulo"/>
          <p:cNvSpPr/>
          <p:nvPr/>
        </p:nvSpPr>
        <p:spPr>
          <a:xfrm>
            <a:off x="10049256" y="1828800"/>
            <a:ext cx="914400" cy="9144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7856" y="205740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473184" y="2926080"/>
            <a:ext cx="20665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Test</a:t>
            </a:r>
            <a:endParaRPr lang="en-US" sz="1900" dirty="0"/>
          </a:p>
        </p:txBody>
      </p:sp>
      <p:sp>
        <p:nvSpPr>
          <p:cNvPr id="23" name="Text 16"/>
          <p:cNvSpPr txBox="1"/>
          <p:nvPr/>
        </p:nvSpPr>
        <p:spPr>
          <a:xfrm>
            <a:off x="9509760" y="3611880"/>
            <a:ext cx="199339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Una sola vez, y se reporta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Todos los modelos le ganan al baseline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arjeta"/>
          <p:cNvSpPr/>
          <p:nvPr/>
        </p:nvSpPr>
        <p:spPr>
          <a:xfrm>
            <a:off x="7772400" y="1371600"/>
            <a:ext cx="3840480" cy="475488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046720" y="1554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Lectura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046720" y="2103120"/>
            <a:ext cx="3291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El baseline se equivoca un 31 %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 lineal ya baja a ~12 %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log(precio) ayuda a los modelos lineales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Los ensembles memorizan (brecha &gt;150 %) pero generalizan bien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Criterio de negocio (&lt; 15 %): se cumple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Evaluación final en test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554480"/>
            <a:ext cx="350520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783080"/>
            <a:ext cx="313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10.2 %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315468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MAPE en test (criterio: &lt; 15 %)</a:t>
            </a:r>
            <a:endParaRPr lang="en-US" sz="1500" dirty="0"/>
          </a:p>
        </p:txBody>
      </p:sp>
      <p:sp>
        <p:nvSpPr>
          <p:cNvPr id="6" name="Tarjeta"/>
          <p:cNvSpPr/>
          <p:nvPr/>
        </p:nvSpPr>
        <p:spPr>
          <a:xfrm>
            <a:off x="4328160" y="1554480"/>
            <a:ext cx="350520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511040" y="1783080"/>
            <a:ext cx="313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82 %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556760" y="315468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casas con error ≤ 15 % (criterio: 80 %)</a:t>
            </a:r>
            <a:endParaRPr lang="en-US" sz="1500" dirty="0"/>
          </a:p>
        </p:txBody>
      </p:sp>
      <p:sp>
        <p:nvSpPr>
          <p:cNvPr id="9" name="Tarjeta"/>
          <p:cNvSpPr/>
          <p:nvPr/>
        </p:nvSpPr>
        <p:spPr>
          <a:xfrm>
            <a:off x="8107680" y="1554480"/>
            <a:ext cx="350520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90560" y="1783080"/>
            <a:ext cx="313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31 %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8336280" y="3154680"/>
            <a:ext cx="304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MAPE del baseline</a:t>
            </a:r>
            <a:endParaRPr lang="en-US" sz="1500" dirty="0"/>
          </a:p>
        </p:txBody>
      </p:sp>
      <p:sp>
        <p:nvSpPr>
          <p:cNvPr id="12" name="Tarjeta"/>
          <p:cNvSpPr/>
          <p:nvPr/>
        </p:nvSpPr>
        <p:spPr>
          <a:xfrm>
            <a:off x="548640" y="4754880"/>
            <a:ext cx="11064240" cy="1325880"/>
          </a:xfrm>
          <a:prstGeom prst="roundRect">
            <a:avLst>
              <a:gd name="adj" fmla="val 8276"/>
            </a:avLst>
          </a:prstGeom>
          <a:solidFill>
            <a:schemeClr val="tx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4754880"/>
            <a:ext cx="10424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Comunicar los límites: datos de 2006-2010, casas atípicas y barrios con pocas ventas.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sección 5 del notebook del equipo</a:t>
            </a:r>
            <a:endParaRPr lang="en-US" sz="3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937760"/>
                <a:gridCol w="411480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Paso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Qué hace el notebook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Qué decide el equipo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3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5.1 Variables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Arma X e y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Qué variables entran (las del EDA)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5.2 Dividir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80 % train, 20 % test, semilla fija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Nada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5.3 Preparar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Imputa, escala y hace one-hot sin leakage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Nada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5.4 Comparar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Baseline, modelo lineal y árbol en train y test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La métrica principal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B2A2F"/>
                          </a:solidFill>
                        </a:rPr>
                        <a:t>5.5 Errores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Gráfica real vs. predicho o matriz de confusión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B2A2F"/>
                          </a:solidFill>
                        </a:rPr>
                        <a:t>El modelo elegido y su interpretación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0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3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692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2"/>
                </a:solidFill>
              </a:rPr>
              <a:t>Las dos preguntas clave: ¿le gana al baseline? ¿cumple el criterio de éxito?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548640" y="320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Parte 2 · Salas de Zoom</a:t>
            </a:r>
            <a:endParaRPr lang="en-US" sz="3200" dirty="0"/>
          </a:p>
        </p:txBody>
      </p:sp>
      <p:sp>
        <p:nvSpPr>
          <p:cNvPr id="3" name="Tarjeta"/>
          <p:cNvSpPr/>
          <p:nvPr/>
        </p:nvSpPr>
        <p:spPr>
          <a:xfrm>
            <a:off x="548640" y="1371600"/>
            <a:ext cx="4206240" cy="4754880"/>
          </a:xfrm>
          <a:prstGeom prst="roundRect">
            <a:avLst>
              <a:gd name="adj" fmla="val 2609"/>
            </a:avLst>
          </a:prstGeom>
          <a:solidFill>
            <a:schemeClr val="tx2"/>
          </a:solidFill>
          <a:ln/>
        </p:spPr>
      </p:sp>
      <p:sp>
        <p:nvSpPr>
          <p:cNvPr id="4" name="Circulo"/>
          <p:cNvSpPr/>
          <p:nvPr/>
        </p:nvSpPr>
        <p:spPr>
          <a:xfrm>
            <a:off x="82296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4410" y="1771650"/>
            <a:ext cx="342900" cy="3429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6002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Equipos de 3 · 45 min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Objetivo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Entrenar un baseline y dos modelos, y saber si el modelo le gana al baseline y cumple el criterio de éxito.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Viene de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Hallazgos del EDA (sección 4) y criterio de éxito (sección 1).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Va 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Las conclusiones (11 de noviembre) y la sustentación.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074920" y="1371600"/>
            <a:ext cx="6492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Pasos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074920" y="196596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0749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715000" y="192024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Elegir la métrica principal según el error más caro para el negocio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074920" y="273177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074920" y="273177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68605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5.1 a 5.4: variables del EDA, entrenamiento y tabla comparativa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074920" y="34975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74920" y="34975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15000" y="345186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Experimento: cambiar 2 o 3 variables y comparar en test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074920" y="426339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074920" y="426339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715000" y="4217670"/>
            <a:ext cx="5897880" cy="7658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5.5: modelo elegido, errores e interpretación; pull, add, commit y push</a:t>
            </a:r>
            <a:endParaRPr lang="en-US" sz="1600" dirty="0"/>
          </a:p>
        </p:txBody>
      </p:sp>
      <p:sp>
        <p:nvSpPr>
          <p:cNvPr id="21" name="Tarjeta"/>
          <p:cNvSpPr/>
          <p:nvPr/>
        </p:nvSpPr>
        <p:spPr>
          <a:xfrm>
            <a:off x="5074920" y="5074920"/>
            <a:ext cx="6537960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303520" y="5074920"/>
            <a:ext cx="6126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Entregable: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sección 5 ejecutada con la tabla de modelos, la interpretación completa y el resultado en el README.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8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llevar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81912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25880" y="150876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Sin baseline no sabes si el modelo aporta</a:t>
            </a:r>
            <a:endParaRPr lang="en-US" sz="19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50592"/>
            <a:ext cx="411480" cy="4114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325880" y="23774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La métrica la elige el costo de cada error</a:t>
            </a:r>
            <a:endParaRPr lang="en-US" sz="1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319272"/>
            <a:ext cx="411480" cy="411480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325880" y="324612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Train para aprender; test para evaluar</a:t>
            </a:r>
            <a:endParaRPr lang="en-US" sz="19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87952"/>
            <a:ext cx="411480" cy="41148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1325880" y="411480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bg1"/>
                </a:solidFill>
              </a:rPr>
              <a:t>No cumplir el criterio también es un resultado</a:t>
            </a:r>
            <a:endParaRPr lang="en-US" sz="1900" dirty="0"/>
          </a:p>
        </p:txBody>
      </p:sp>
      <p:sp>
        <p:nvSpPr>
          <p:cNvPr id="11" name="Tarjeta"/>
          <p:cNvSpPr/>
          <p:nvPr/>
        </p:nvSpPr>
        <p:spPr>
          <a:xfrm>
            <a:off x="7955280" y="1508760"/>
            <a:ext cx="3566160" cy="3566160"/>
          </a:xfrm>
          <a:prstGeom prst="roundRect">
            <a:avLst>
              <a:gd name="adj" fmla="val 3077"/>
            </a:avLst>
          </a:prstGeom>
          <a:solidFill>
            <a:schemeClr val="accent2"/>
          </a:solidFill>
          <a:ln/>
        </p:spPr>
      </p:sp>
      <p:sp>
        <p:nvSpPr>
          <p:cNvPr id="12" name="Text 6"/>
          <p:cNvSpPr txBox="1"/>
          <p:nvPr/>
        </p:nvSpPr>
        <p:spPr>
          <a:xfrm>
            <a:off x="8229600" y="1737360"/>
            <a:ext cx="30175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Siguiente</a:t>
            </a:r>
            <a:endParaRPr lang="en-US" sz="16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2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05 · Del modelo al producto</a:t>
            </a:r>
            <a:endParaRPr lang="en-US" sz="1600" dirty="0"/>
          </a:p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intermedio el 4 de noviembre: el notebook corre completo y el README está al día.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26364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9C5C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alitica UdeM">
  <a:themeElements>
    <a:clrScheme name="Analitica UdeM">
      <a:dk1>
        <a:srgbClr val="1B2A2F"/>
      </a:dk1>
      <a:lt1>
        <a:srgbClr val="FFFFFF"/>
      </a:lt1>
      <a:dk2>
        <a:srgbClr val="0F3D3E"/>
      </a:dk2>
      <a:lt2>
        <a:srgbClr val="EEF4F3"/>
      </a:lt2>
      <a:accent1>
        <a:srgbClr val="E09F3E"/>
      </a:accent1>
      <a:accent2>
        <a:srgbClr val="2A9D8F"/>
      </a:accent2>
      <a:accent3>
        <a:srgbClr val="9E2A2B"/>
      </a:accent3>
      <a:accent4>
        <a:srgbClr val="5B7F95"/>
      </a:accent4>
      <a:accent5>
        <a:srgbClr val="84A98C"/>
      </a:accent5>
      <a:accent6>
        <a:srgbClr val="C8553D"/>
      </a:accent6>
      <a:hlink>
        <a:srgbClr val="2A9D8F"/>
      </a:hlink>
      <a:folHlink>
        <a:srgbClr val="5B7F95"/>
      </a:folHlink>
    </a:clrScheme>
    <a:fontScheme name="Analitica UdeM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Universidad de Medellín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04: Modelado y métricas</dc:title>
  <dc:subject>PptxGenJS Presentation</dc:subject>
  <dc:creator>María Camila Durango</dc:creator>
  <cp:lastModifiedBy>María Camila Durango</cp:lastModifiedBy>
  <cp:revision>1</cp:revision>
  <dcterms:created xsi:type="dcterms:W3CDTF">2026-10-24T23:00:16Z</dcterms:created>
  <dcterms:modified xsi:type="dcterms:W3CDTF">2026-10-24T23:00:16Z</dcterms:modified>
</cp:coreProperties>
</file>