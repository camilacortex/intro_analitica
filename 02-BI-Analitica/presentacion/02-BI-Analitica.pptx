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6e9f9082-e9fe-8df9-2298-3413c9568716}">
          <p14:sldIdLst>
            <p14:sldId id="256"/>
            <p14:sldId id="257"/>
          </p14:sldIdLst>
        </p14:section>
        <p14:section name="Del dato a la decisión" id="{44eb8fda-cf1d-9038-18c8-e0cd57133bcc}">
          <p14:sldIdLst>
            <p14:sldId id="258"/>
          </p14:sldIdLst>
        </p14:section>
        <p14:section name="BI vs. analítica" id="{2c8ab681-dc64-30b0-c8d6-48a7a670c0d1}">
          <p14:sldIdLst>
            <p14:sldId id="259"/>
            <p14:sldId id="260"/>
          </p14:sldIdLst>
        </p14:section>
        <p14:section name="KPIs SMART" id="{4bcf6d03-5f57-10f0-aa05-55812ca5ad83}">
          <p14:sldIdLst>
            <p14:sldId id="261"/>
          </p14:sldIdLst>
        </p14:section>
        <p14:section name="4 tipos de análisis" id="{60b93e5f-b051-c105-41a6-f26b0ba089ef}">
          <p14:sldIdLst>
            <p14:sldId id="262"/>
          </p14:sldIdLst>
        </p14:section>
        <p14:section name="Caso inmobiliaria" id="{62a9e684-06b2-d442-0a90-4d184330c72e}">
          <p14:sldIdLst>
            <p14:sldId id="263"/>
            <p14:sldId id="264"/>
            <p14:sldId id="265"/>
          </p14:sldIdLst>
        </p14:section>
        <p14:section name="Trabajo en salas" id="{e35175d1-4ddc-203f-6d26-d51a17f9b7c7}">
          <p14:sldIdLst>
            <p14:sldId id="266"/>
          </p14:sldIdLst>
        </p14:section>
        <p14:section name="Cierre" id="{75464ef4-282c-53d6-9ed5-6ff4897d1d2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Casas vendidas por año (House Prices)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Ventas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2006</c:v>
                  </c:pt>
                  <c:pt idx="1">
                    <c:v>2007</c:v>
                  </c:pt>
                  <c:pt idx="2">
                    <c:v>2008</c:v>
                  </c:pt>
                  <c:pt idx="3">
                    <c:v>2009</c:v>
                  </c:pt>
                  <c:pt idx="4">
                    <c:v>2010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314</c:v>
                </c:pt>
                <c:pt idx="1">
                  <c:v>329</c:v>
                </c:pt>
                <c:pt idx="2">
                  <c:v>304</c:v>
                </c:pt>
                <c:pt idx="3">
                  <c:v>338</c:v>
                </c:pt>
                <c:pt idx="4">
                  <c:v>175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Precio mediano (miles de USD) por calidad general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Precio mediano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60</c:v>
                </c:pt>
                <c:pt idx="2">
                  <c:v>86</c:v>
                </c:pt>
                <c:pt idx="3">
                  <c:v>108</c:v>
                </c:pt>
                <c:pt idx="4">
                  <c:v>133</c:v>
                </c:pt>
                <c:pt idx="5">
                  <c:v>160</c:v>
                </c:pt>
                <c:pt idx="6">
                  <c:v>200</c:v>
                </c:pt>
                <c:pt idx="7">
                  <c:v>270</c:v>
                </c:pt>
                <c:pt idx="8">
                  <c:v>345</c:v>
                </c:pt>
                <c:pt idx="9">
                  <c:v>432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 y Analítica de Datos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Convertir datos en decisiones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Del dato a la decisión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Para qué sirve la analítica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BI vs. analítica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Diferencias y complementos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KPIs SMART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Medir lo que importa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4 tipos de análisis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Descriptivo → prescriptivo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Caso inmobiliaria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House Prices en el notebook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Problema y KPIs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dato vale lo que cambia en una decisión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31670" y="2286000"/>
            <a:ext cx="82981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47447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Datos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1.460 ventas de casas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424053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785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Información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42442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Precio mediano: USD 163.000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700659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5391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Conocimiento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19048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Calidad 10 vale ~8 veces más que calidad 1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9772650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1997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Decisión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95654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Sugerir remodelar acabados antes de vender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vs. Analítica de datos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Aspecto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Business Intelligence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Analítica de datos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Pregunta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¿Qué pasó? ¿Por qué?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¿Qué pasará? ¿Qué hacer?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Orientación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Reporte, monitoreo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Descubrimiento, predicción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Usuarios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Negocio, gerencia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Analistas, científicos de datos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Herramientas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Power BI, Tableau, Looker Studio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Python, R, SQL, scikit-learn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Entregable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Dashboard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Modelo, segmentación, recomendación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No compiten: BI dice dónde mirar y la analítica profundiza.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típica de BI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5064" y="2286000"/>
            <a:ext cx="8851392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197864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Fuentes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ERP, CRM, web, IoT, Excel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3410712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Extract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871216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Traer los datos de cada fuente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Transform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084064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Limpiar, unificar clientes, convertir monedas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7836408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0336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Load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296912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Cargar al data warehouse</a:t>
            </a:r>
            <a:endParaRPr lang="en-US" sz="1600" dirty="0"/>
          </a:p>
        </p:txBody>
      </p:sp>
      <p:sp>
        <p:nvSpPr>
          <p:cNvPr id="20" name="Circulo"/>
          <p:cNvSpPr/>
          <p:nvPr/>
        </p:nvSpPr>
        <p:spPr>
          <a:xfrm>
            <a:off x="10049256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73184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Consumo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509760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Dashboards, reportes y modelos</a:t>
            </a:r>
            <a:endParaRPr lang="en-US" sz="1600" dirty="0"/>
          </a:p>
        </p:txBody>
      </p:sp>
      <p:sp>
        <p:nvSpPr>
          <p:cNvPr id="24" name="Tarjeta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</a:rPr>
              <a:t>La T de ETL es lo que haremos con pandas en el módulo 04.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buen KPI es SMART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926080"/>
                <a:gridCol w="68580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Letra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Significa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Pregunta de control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Específico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¿Mide una sola cosa clara?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M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Medible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¿Se puede calcular con los datos que tenemos?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Alcanzable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¿La meta es realista?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R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Relevante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¿Le importa al negocio?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Temporal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¿En qué periodo se mide?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"Mejorar ventas"  →  "Aumentar el ingreso mensual un 5 % vs. el mismo mes del año anterior, en el segundo semestre" 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4 tipos de análisis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Descriptivo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¿Qué pasó?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Conteos, KPIs, dashboards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"Se vendieron 1.460 casas"</a:t>
            </a:r>
            <a:endParaRPr lang="en-US" sz="1500" dirty="0"/>
          </a:p>
        </p:txBody>
      </p:sp>
      <p:sp>
        <p:nvSpPr>
          <p:cNvPr id="8" name="Tarjeta"/>
          <p:cNvSpPr/>
          <p:nvPr/>
        </p:nvSpPr>
        <p:spPr>
          <a:xfrm>
            <a:off x="338328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365760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05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Diagnóstico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¿Por qué pasó?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Drill-down, segmentación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"¿Por qué cayó 2010?"</a:t>
            </a:r>
            <a:endParaRPr lang="en-US" sz="1500" dirty="0"/>
          </a:p>
        </p:txBody>
      </p:sp>
      <p:sp>
        <p:nvSpPr>
          <p:cNvPr id="13" name="Tarjeta"/>
          <p:cNvSpPr/>
          <p:nvPr/>
        </p:nvSpPr>
        <p:spPr>
          <a:xfrm>
            <a:off x="621792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649224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69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Predictivo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¿Qué pasará?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Regresión, ML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"Esta casa valdrá USD 180.000"</a:t>
            </a:r>
            <a:endParaRPr lang="en-US" sz="1500" dirty="0"/>
          </a:p>
        </p:txBody>
      </p:sp>
      <p:sp>
        <p:nvSpPr>
          <p:cNvPr id="18" name="Tarjeta"/>
          <p:cNvSpPr/>
          <p:nvPr/>
        </p:nvSpPr>
        <p:spPr>
          <a:xfrm>
            <a:off x="9052560" y="1417320"/>
            <a:ext cx="2560320" cy="466344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9" name="Circulo"/>
          <p:cNvSpPr/>
          <p:nvPr/>
        </p:nvSpPr>
        <p:spPr>
          <a:xfrm>
            <a:off x="9326880" y="16916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8330" y="186309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514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Prescriptivo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154680"/>
            <a:ext cx="2011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¿Qué hago?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Optimización, simulación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"Remodela la cocina"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Trampa: ¿2010 fue un año terrible?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Diagnóstico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ventas de 2010 caen casi a la mitad…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…pero los datos de 2010 solo llegan hasta julio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Comparando enero-julio, la caída es de ~20 %, no de ~48 %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Antes de concluir: ¿el periodo está completo?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calidad explica buena parte del precio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Lectura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Cada punto de calidad suma entre 20 % y 45 % al precio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barrios caros también tienen más calidad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Correlación ≠ causalidad: es una hipótesis para validar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concluir, pregunta</a:t>
            </a:r>
            <a:endParaRPr lang="en-US" sz="3200" dirty="0"/>
          </a:p>
        </p:txBody>
      </p:sp>
      <p:sp>
        <p:nvSpPr>
          <p:cNvPr id="3" name="Circulo"/>
          <p:cNvSpPr/>
          <p:nvPr/>
        </p:nvSpPr>
        <p:spPr>
          <a:xfrm>
            <a:off x="548640" y="14630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41732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¿El periodo está completo?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874520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lección de 2010</a:t>
            </a:r>
            <a:endParaRPr lang="en-US" sz="1600" dirty="0"/>
          </a:p>
        </p:txBody>
      </p:sp>
      <p:sp>
        <p:nvSpPr>
          <p:cNvPr id="7" name="Circulo"/>
          <p:cNvSpPr/>
          <p:nvPr/>
        </p:nvSpPr>
        <p:spPr>
          <a:xfrm>
            <a:off x="548640" y="2761488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4436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715768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¿Los grupos son comparables?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3172968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Mismo tamaño, mismo periodo, mismas condiciones</a:t>
            </a:r>
            <a:endParaRPr lang="en-US" sz="1600" dirty="0"/>
          </a:p>
        </p:txBody>
      </p:sp>
      <p:sp>
        <p:nvSpPr>
          <p:cNvPr id="11" name="Circulo"/>
          <p:cNvSpPr/>
          <p:nvPr/>
        </p:nvSpPr>
        <p:spPr>
          <a:xfrm>
            <a:off x="548640" y="4059936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242816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4014216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¿Media o mediana?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471416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valores extremos, la mediana representa mejor lo típico</a:t>
            </a:r>
            <a:endParaRPr lang="en-US" sz="1600" dirty="0"/>
          </a:p>
        </p:txBody>
      </p:sp>
      <p:sp>
        <p:nvSpPr>
          <p:cNvPr id="15" name="Circulo"/>
          <p:cNvSpPr/>
          <p:nvPr/>
        </p:nvSpPr>
        <p:spPr>
          <a:xfrm>
            <a:off x="548640" y="5358384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541264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5312664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¿Correlación o causalidad?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769864"/>
            <a:ext cx="10104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 dos cosas se muevan juntas no significa que una cause la otra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50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Elegir el tema y el dataset del proyecto y definir 3 KPIs SMART.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El repositorio del equipo (módulo 01).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Módulo 03: el project charter parte de este documento.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integrante presenta su tema en 1 minuto; califican negocio, datos, acceso e interés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piloto descarga el dataset elegido y corre kpis.py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Escriben docs/01_problema_y_kpis.md: decisión, preguntas por tipo de análisis y 3 KPIs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 revisado por otro integrante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dataset en data/raw/ y docs/01_problema_y_kpis.md con 3 KPIs SMART y una pregunta por tipo de análisis.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El valor está en la decisión, no en el dato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BI y analítica se complementan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Un KPI sin meta ni periodo no es un KPI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Antes de concluir: periodos completos y grupos comparables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 · CRISP-DM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el diccionario de datos de su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02: BI y Analítica</dc:title>
  <dc:subject>PptxGenJS Presentation</dc:subject>
  <dc:creator>María Camila Durango</dc:creator>
  <cp:lastModifiedBy>María Camila Durango</cp:lastModifiedBy>
  <cp:revision>1</cp:revision>
  <dcterms:created xsi:type="dcterms:W3CDTF">2026-10-17T01:04:36Z</dcterms:created>
  <dcterms:modified xsi:type="dcterms:W3CDTF">2026-10-17T01:04:36Z</dcterms:modified>
</cp:coreProperties>
</file>